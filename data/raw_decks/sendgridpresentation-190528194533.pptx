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1" i="0">
                <a:solidFill>
                  <a:srgbClr val="37609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rgbClr val="37609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rgbClr val="37609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rgbClr val="37609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580" y="190500"/>
            <a:ext cx="9855199" cy="143885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8597" y="321564"/>
            <a:ext cx="7536521" cy="741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1" i="0">
                <a:solidFill>
                  <a:srgbClr val="37609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8522" y="1689312"/>
            <a:ext cx="9124315" cy="4863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0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image" Target="../media/image13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jp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png"/><Relationship Id="rId6" Type="http://schemas.openxmlformats.org/officeDocument/2006/relationships/image" Target="../media/image26.jpg"/><Relationship Id="rId7" Type="http://schemas.openxmlformats.org/officeDocument/2006/relationships/image" Target="../media/image27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2.png"/><Relationship Id="rId5" Type="http://schemas.openxmlformats.org/officeDocument/2006/relationships/image" Target="../media/image23.jpg"/><Relationship Id="rId6" Type="http://schemas.openxmlformats.org/officeDocument/2006/relationships/image" Target="../media/image24.jpg"/><Relationship Id="rId7" Type="http://schemas.openxmlformats.org/officeDocument/2006/relationships/image" Target="../media/image30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3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8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png"/><Relationship Id="rId14" Type="http://schemas.openxmlformats.org/officeDocument/2006/relationships/image" Target="../media/image62.png"/><Relationship Id="rId15" Type="http://schemas.openxmlformats.org/officeDocument/2006/relationships/image" Target="../media/image63.png"/><Relationship Id="rId16" Type="http://schemas.openxmlformats.org/officeDocument/2006/relationships/image" Target="../media/image64.png"/><Relationship Id="rId17" Type="http://schemas.openxmlformats.org/officeDocument/2006/relationships/image" Target="../media/image65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mailto:isaac@sendgrid.com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8580" y="190500"/>
            <a:ext cx="9855200" cy="5010150"/>
            <a:chOff x="98580" y="190500"/>
            <a:chExt cx="9855200" cy="50101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580" y="1576387"/>
              <a:ext cx="2792307" cy="247406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7492" y="3249719"/>
              <a:ext cx="6108170" cy="1950506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2605765" y="5729223"/>
            <a:ext cx="4837430" cy="1293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11125">
              <a:lnSpc>
                <a:spcPct val="122400"/>
              </a:lnSpc>
              <a:spcBef>
                <a:spcPts val="95"/>
              </a:spcBef>
            </a:pPr>
            <a:r>
              <a:rPr dirty="0" sz="3400">
                <a:solidFill>
                  <a:srgbClr val="898989"/>
                </a:solidFill>
                <a:latin typeface="Calibri"/>
                <a:cs typeface="Calibri"/>
              </a:rPr>
              <a:t>Isaac</a:t>
            </a:r>
            <a:r>
              <a:rPr dirty="0" sz="3400" spc="105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898989"/>
                </a:solidFill>
                <a:latin typeface="Calibri"/>
                <a:cs typeface="Calibri"/>
              </a:rPr>
              <a:t>Saldana,</a:t>
            </a:r>
            <a:r>
              <a:rPr dirty="0" sz="3400" spc="105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898989"/>
                </a:solidFill>
                <a:latin typeface="Calibri"/>
                <a:cs typeface="Calibri"/>
              </a:rPr>
              <a:t>Jose</a:t>
            </a:r>
            <a:r>
              <a:rPr dirty="0" sz="3400" spc="114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898989"/>
                </a:solidFill>
                <a:latin typeface="Calibri"/>
                <a:cs typeface="Calibri"/>
              </a:rPr>
              <a:t>Lopez, </a:t>
            </a:r>
            <a:r>
              <a:rPr dirty="0" sz="3400">
                <a:solidFill>
                  <a:srgbClr val="898989"/>
                </a:solidFill>
                <a:latin typeface="Calibri"/>
                <a:cs typeface="Calibri"/>
              </a:rPr>
              <a:t>Tim</a:t>
            </a:r>
            <a:r>
              <a:rPr dirty="0" sz="3400" spc="35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898989"/>
                </a:solidFill>
                <a:latin typeface="Calibri"/>
                <a:cs typeface="Calibri"/>
              </a:rPr>
              <a:t>Jenkins,</a:t>
            </a:r>
            <a:r>
              <a:rPr dirty="0" sz="3400" spc="2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898989"/>
                </a:solidFill>
                <a:latin typeface="Calibri"/>
                <a:cs typeface="Calibri"/>
              </a:rPr>
              <a:t>Kyle</a:t>
            </a:r>
            <a:r>
              <a:rPr dirty="0" sz="3400" spc="35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898989"/>
                </a:solidFill>
                <a:latin typeface="Calibri"/>
                <a:cs typeface="Calibri"/>
              </a:rPr>
              <a:t>Kermgard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097551" y="4660900"/>
            <a:ext cx="322135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solidFill>
                  <a:srgbClr val="7F7F7F"/>
                </a:solidFill>
                <a:latin typeface="Arial"/>
                <a:cs typeface="Arial"/>
              </a:rPr>
              <a:t>We</a:t>
            </a:r>
            <a:r>
              <a:rPr dirty="0" sz="1900" spc="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7F7F7F"/>
                </a:solidFill>
                <a:latin typeface="Arial"/>
                <a:cs typeface="Arial"/>
              </a:rPr>
              <a:t>make</a:t>
            </a:r>
            <a:r>
              <a:rPr dirty="0" sz="1900" spc="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7F7F7F"/>
                </a:solidFill>
                <a:latin typeface="Arial"/>
                <a:cs typeface="Arial"/>
              </a:rPr>
              <a:t>email</a:t>
            </a:r>
            <a:r>
              <a:rPr dirty="0" sz="1900" spc="5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7F7F7F"/>
                </a:solidFill>
                <a:latin typeface="Arial"/>
                <a:cs typeface="Arial"/>
              </a:rPr>
              <a:t>delivery</a:t>
            </a:r>
            <a:r>
              <a:rPr dirty="0" sz="1900" spc="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7F7F7F"/>
                </a:solidFill>
                <a:latin typeface="Arial"/>
                <a:cs typeface="Arial"/>
              </a:rPr>
              <a:t>easy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36601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Welcome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68120">
              <a:lnSpc>
                <a:spcPct val="100000"/>
              </a:lnSpc>
              <a:spcBef>
                <a:spcPts val="100"/>
              </a:spcBef>
            </a:pPr>
            <a:r>
              <a:rPr dirty="0"/>
              <a:t>Email</a:t>
            </a:r>
            <a:r>
              <a:rPr dirty="0" spc="25"/>
              <a:t> </a:t>
            </a:r>
            <a:r>
              <a:rPr dirty="0" spc="-10"/>
              <a:t>Categories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1782" y="2741560"/>
            <a:ext cx="1104548" cy="48315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0050" y="2633768"/>
            <a:ext cx="1971039" cy="57488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61192" y="2777489"/>
            <a:ext cx="1868382" cy="36957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80268" y="6054668"/>
            <a:ext cx="3438277" cy="90670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95864" y="4077828"/>
            <a:ext cx="6515382" cy="79389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677192" y="1923795"/>
            <a:ext cx="3336290" cy="3841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2270" indent="-36957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82270" algn="l"/>
              </a:tabLst>
            </a:pPr>
            <a:r>
              <a:rPr dirty="0" sz="4300" spc="-10">
                <a:solidFill>
                  <a:srgbClr val="595959"/>
                </a:solidFill>
                <a:latin typeface="Calibri"/>
                <a:cs typeface="Calibri"/>
              </a:rPr>
              <a:t>Personal</a:t>
            </a:r>
            <a:endParaRPr sz="4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75"/>
              </a:spcBef>
              <a:buClr>
                <a:srgbClr val="595959"/>
              </a:buClr>
              <a:buFont typeface="Arial"/>
              <a:buChar char="•"/>
            </a:pPr>
            <a:endParaRPr sz="4300">
              <a:latin typeface="Calibri"/>
              <a:cs typeface="Calibri"/>
            </a:endParaRPr>
          </a:p>
          <a:p>
            <a:pPr marL="382270" indent="-369570">
              <a:lnSpc>
                <a:spcPct val="100000"/>
              </a:lnSpc>
              <a:buFont typeface="Arial"/>
              <a:buChar char="•"/>
              <a:tabLst>
                <a:tab pos="382270" algn="l"/>
              </a:tabLst>
            </a:pPr>
            <a:r>
              <a:rPr dirty="0" sz="4300" spc="-10">
                <a:solidFill>
                  <a:srgbClr val="595959"/>
                </a:solidFill>
                <a:latin typeface="Calibri"/>
                <a:cs typeface="Calibri"/>
              </a:rPr>
              <a:t>Marketing</a:t>
            </a:r>
            <a:endParaRPr sz="4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95"/>
              </a:spcBef>
              <a:buClr>
                <a:srgbClr val="595959"/>
              </a:buClr>
              <a:buFont typeface="Arial"/>
              <a:buChar char="•"/>
            </a:pPr>
            <a:endParaRPr sz="4300">
              <a:latin typeface="Calibri"/>
              <a:cs typeface="Calibri"/>
            </a:endParaRPr>
          </a:p>
          <a:p>
            <a:pPr marL="382270" indent="-369570">
              <a:lnSpc>
                <a:spcPct val="100000"/>
              </a:lnSpc>
              <a:buFont typeface="Arial"/>
              <a:buChar char="•"/>
              <a:tabLst>
                <a:tab pos="382270" algn="l"/>
              </a:tabLst>
            </a:pPr>
            <a:r>
              <a:rPr dirty="0" sz="4300" spc="-30">
                <a:solidFill>
                  <a:srgbClr val="595959"/>
                </a:solidFill>
                <a:latin typeface="Calibri"/>
                <a:cs typeface="Calibri"/>
              </a:rPr>
              <a:t>Transactional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77192" y="3496564"/>
            <a:ext cx="8017509" cy="680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2270" indent="-36957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82270" algn="l"/>
              </a:tabLst>
            </a:pPr>
            <a:r>
              <a:rPr dirty="0" sz="4300">
                <a:solidFill>
                  <a:srgbClr val="595959"/>
                </a:solidFill>
                <a:latin typeface="Calibri"/>
                <a:cs typeface="Calibri"/>
              </a:rPr>
              <a:t>Examples</a:t>
            </a:r>
            <a:r>
              <a:rPr dirty="0" sz="4300" spc="-1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dirty="0" sz="4300" spc="-10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595959"/>
                </a:solidFill>
                <a:latin typeface="Calibri"/>
                <a:cs typeface="Calibri"/>
              </a:rPr>
              <a:t>transactional</a:t>
            </a:r>
            <a:r>
              <a:rPr dirty="0" sz="4300" spc="-1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595959"/>
                </a:solidFill>
                <a:latin typeface="Calibri"/>
                <a:cs typeface="Calibri"/>
              </a:rPr>
              <a:t>emails…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9695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Transactional</a:t>
            </a:r>
            <a:r>
              <a:rPr dirty="0" spc="-175"/>
              <a:t> </a:t>
            </a:r>
            <a:r>
              <a:rPr dirty="0" spc="-10"/>
              <a:t>Emails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41145">
              <a:lnSpc>
                <a:spcPct val="100000"/>
              </a:lnSpc>
              <a:spcBef>
                <a:spcPts val="100"/>
              </a:spcBef>
            </a:pPr>
            <a:r>
              <a:rPr dirty="0"/>
              <a:t>Friend</a:t>
            </a:r>
            <a:r>
              <a:rPr dirty="0" spc="10"/>
              <a:t> </a:t>
            </a:r>
            <a:r>
              <a:rPr dirty="0" spc="-10"/>
              <a:t>Requests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9846" y="2305262"/>
            <a:ext cx="8222931" cy="322347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30026" y="5692987"/>
            <a:ext cx="2737556" cy="10265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67790">
              <a:lnSpc>
                <a:spcPct val="100000"/>
              </a:lnSpc>
              <a:spcBef>
                <a:spcPts val="100"/>
              </a:spcBef>
            </a:pPr>
            <a:r>
              <a:rPr dirty="0"/>
              <a:t>Twitter</a:t>
            </a:r>
            <a:r>
              <a:rPr dirty="0" spc="-165"/>
              <a:t> </a:t>
            </a:r>
            <a:r>
              <a:rPr dirty="0" spc="-10"/>
              <a:t>Followers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243" y="1915160"/>
            <a:ext cx="8197269" cy="48728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49730">
              <a:lnSpc>
                <a:spcPct val="100000"/>
              </a:lnSpc>
              <a:spcBef>
                <a:spcPts val="100"/>
              </a:spcBef>
            </a:pPr>
            <a:r>
              <a:rPr dirty="0"/>
              <a:t>Shipping</a:t>
            </a:r>
            <a:r>
              <a:rPr dirty="0" spc="10"/>
              <a:t> </a:t>
            </a:r>
            <a:r>
              <a:rPr dirty="0" spc="-10"/>
              <a:t>Alerts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043036" y="1761172"/>
            <a:ext cx="8028305" cy="5112385"/>
            <a:chOff x="1043036" y="1761172"/>
            <a:chExt cx="8028305" cy="511238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036" y="1761172"/>
              <a:ext cx="8027881" cy="511238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61926" y="3721947"/>
              <a:ext cx="4106332" cy="11771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Transactional</a:t>
            </a:r>
            <a:r>
              <a:rPr dirty="0" spc="-70"/>
              <a:t> </a:t>
            </a:r>
            <a:r>
              <a:rPr dirty="0"/>
              <a:t>Email</a:t>
            </a:r>
            <a:r>
              <a:rPr dirty="0" spc="-70"/>
              <a:t> </a:t>
            </a:r>
            <a:r>
              <a:rPr dirty="0" spc="-10"/>
              <a:t>Problems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77192" y="1669288"/>
            <a:ext cx="4766310" cy="3820160"/>
          </a:xfrm>
          <a:prstGeom prst="rect">
            <a:avLst/>
          </a:prstGeom>
        </p:spPr>
        <p:txBody>
          <a:bodyPr wrap="square" lIns="0" tIns="170815" rIns="0" bIns="0" rtlCol="0" vert="horz">
            <a:spAutoFit/>
          </a:bodyPr>
          <a:lstStyle/>
          <a:p>
            <a:pPr marL="382270" indent="-369570">
              <a:lnSpc>
                <a:spcPct val="100000"/>
              </a:lnSpc>
              <a:spcBef>
                <a:spcPts val="1345"/>
              </a:spcBef>
              <a:buFont typeface="Arial"/>
              <a:buChar char="•"/>
              <a:tabLst>
                <a:tab pos="382270" algn="l"/>
              </a:tabLst>
            </a:pPr>
            <a:r>
              <a:rPr dirty="0" sz="5200" spc="-10">
                <a:solidFill>
                  <a:srgbClr val="595959"/>
                </a:solidFill>
                <a:latin typeface="Calibri"/>
                <a:cs typeface="Calibri"/>
              </a:rPr>
              <a:t>Deliverability</a:t>
            </a:r>
            <a:endParaRPr sz="5200">
              <a:latin typeface="Calibri"/>
              <a:cs typeface="Calibri"/>
            </a:endParaRPr>
          </a:p>
          <a:p>
            <a:pPr marL="382270" indent="-369570">
              <a:lnSpc>
                <a:spcPct val="100000"/>
              </a:lnSpc>
              <a:spcBef>
                <a:spcPts val="1250"/>
              </a:spcBef>
              <a:buFont typeface="Arial"/>
              <a:buChar char="•"/>
              <a:tabLst>
                <a:tab pos="382270" algn="l"/>
              </a:tabLst>
            </a:pPr>
            <a:r>
              <a:rPr dirty="0" sz="5200" spc="-10">
                <a:solidFill>
                  <a:srgbClr val="595959"/>
                </a:solidFill>
                <a:latin typeface="Calibri"/>
                <a:cs typeface="Calibri"/>
              </a:rPr>
              <a:t>Scalability</a:t>
            </a:r>
            <a:endParaRPr sz="5200">
              <a:latin typeface="Calibri"/>
              <a:cs typeface="Calibri"/>
            </a:endParaRPr>
          </a:p>
          <a:p>
            <a:pPr marL="382270" indent="-369570">
              <a:lnSpc>
                <a:spcPct val="100000"/>
              </a:lnSpc>
              <a:spcBef>
                <a:spcPts val="1175"/>
              </a:spcBef>
              <a:buFont typeface="Arial"/>
              <a:buChar char="•"/>
              <a:tabLst>
                <a:tab pos="382270" algn="l"/>
              </a:tabLst>
            </a:pPr>
            <a:r>
              <a:rPr dirty="0" sz="5200">
                <a:solidFill>
                  <a:srgbClr val="595959"/>
                </a:solidFill>
                <a:latin typeface="Calibri"/>
                <a:cs typeface="Calibri"/>
              </a:rPr>
              <a:t>Lack</a:t>
            </a:r>
            <a:r>
              <a:rPr dirty="0" sz="5200" spc="-5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520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dirty="0" sz="5200" spc="-5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5200" spc="-10">
                <a:solidFill>
                  <a:srgbClr val="595959"/>
                </a:solidFill>
                <a:latin typeface="Calibri"/>
                <a:cs typeface="Calibri"/>
              </a:rPr>
              <a:t>insight</a:t>
            </a:r>
            <a:endParaRPr sz="5200">
              <a:latin typeface="Calibri"/>
              <a:cs typeface="Calibri"/>
            </a:endParaRPr>
          </a:p>
          <a:p>
            <a:pPr marL="382270" indent="-369570">
              <a:lnSpc>
                <a:spcPct val="100000"/>
              </a:lnSpc>
              <a:spcBef>
                <a:spcPts val="1250"/>
              </a:spcBef>
              <a:buFont typeface="Arial"/>
              <a:buChar char="•"/>
              <a:tabLst>
                <a:tab pos="382270" algn="l"/>
              </a:tabLst>
            </a:pPr>
            <a:r>
              <a:rPr dirty="0" sz="5200">
                <a:solidFill>
                  <a:srgbClr val="595959"/>
                </a:solidFill>
                <a:latin typeface="Calibri"/>
                <a:cs typeface="Calibri"/>
              </a:rPr>
              <a:t>Time</a:t>
            </a:r>
            <a:r>
              <a:rPr dirty="0" sz="5200" spc="-1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5200" spc="-10">
                <a:solidFill>
                  <a:srgbClr val="595959"/>
                </a:solidFill>
                <a:latin typeface="Calibri"/>
                <a:cs typeface="Calibri"/>
              </a:rPr>
              <a:t>consuming</a:t>
            </a:r>
            <a:endParaRPr sz="52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5084" y="4425845"/>
            <a:ext cx="4408695" cy="29717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5461" y="3095244"/>
            <a:ext cx="4818184" cy="127073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4286531" y="1339596"/>
            <a:ext cx="1332230" cy="1902460"/>
            <a:chOff x="4286531" y="1339596"/>
            <a:chExt cx="1332230" cy="190246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86531" y="1339596"/>
              <a:ext cx="1331976" cy="133197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03523" y="2528316"/>
              <a:ext cx="679703" cy="71323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4697672" y="2572172"/>
              <a:ext cx="492759" cy="575310"/>
            </a:xfrm>
            <a:custGeom>
              <a:avLst/>
              <a:gdLst/>
              <a:ahLst/>
              <a:cxnLst/>
              <a:rect l="l" t="t" r="r" b="b"/>
              <a:pathLst>
                <a:path w="492760" h="575310">
                  <a:moveTo>
                    <a:pt x="369569" y="0"/>
                  </a:moveTo>
                  <a:lnTo>
                    <a:pt x="123189" y="0"/>
                  </a:lnTo>
                  <a:lnTo>
                    <a:pt x="123189" y="328507"/>
                  </a:lnTo>
                  <a:lnTo>
                    <a:pt x="0" y="328507"/>
                  </a:lnTo>
                  <a:lnTo>
                    <a:pt x="246381" y="574887"/>
                  </a:lnTo>
                  <a:lnTo>
                    <a:pt x="492759" y="328507"/>
                  </a:lnTo>
                  <a:lnTo>
                    <a:pt x="369569" y="328507"/>
                  </a:lnTo>
                  <a:lnTo>
                    <a:pt x="36956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697672" y="2572172"/>
              <a:ext cx="492759" cy="575310"/>
            </a:xfrm>
            <a:custGeom>
              <a:avLst/>
              <a:gdLst/>
              <a:ahLst/>
              <a:cxnLst/>
              <a:rect l="l" t="t" r="r" b="b"/>
              <a:pathLst>
                <a:path w="492760" h="575310">
                  <a:moveTo>
                    <a:pt x="0" y="328507"/>
                  </a:moveTo>
                  <a:lnTo>
                    <a:pt x="123190" y="328507"/>
                  </a:lnTo>
                  <a:lnTo>
                    <a:pt x="123190" y="0"/>
                  </a:lnTo>
                  <a:lnTo>
                    <a:pt x="369569" y="0"/>
                  </a:lnTo>
                  <a:lnTo>
                    <a:pt x="369569" y="328507"/>
                  </a:lnTo>
                  <a:lnTo>
                    <a:pt x="492759" y="328507"/>
                  </a:lnTo>
                  <a:lnTo>
                    <a:pt x="246380" y="574886"/>
                  </a:lnTo>
                  <a:lnTo>
                    <a:pt x="0" y="328507"/>
                  </a:lnTo>
                  <a:close/>
                </a:path>
              </a:pathLst>
            </a:custGeom>
            <a:ln w="4106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5280">
              <a:lnSpc>
                <a:spcPct val="100000"/>
              </a:lnSpc>
              <a:spcBef>
                <a:spcPts val="100"/>
              </a:spcBef>
            </a:pPr>
            <a:r>
              <a:rPr dirty="0"/>
              <a:t>Email</a:t>
            </a:r>
            <a:r>
              <a:rPr dirty="0" spc="30"/>
              <a:t> </a:t>
            </a:r>
            <a:r>
              <a:rPr dirty="0"/>
              <a:t>Delivery</a:t>
            </a:r>
            <a:r>
              <a:rPr dirty="0" spc="55"/>
              <a:t> </a:t>
            </a:r>
            <a:r>
              <a:rPr dirty="0"/>
              <a:t>Made</a:t>
            </a:r>
            <a:r>
              <a:rPr dirty="0" spc="50"/>
              <a:t> </a:t>
            </a:r>
            <a:r>
              <a:rPr dirty="0" spc="-20"/>
              <a:t>Easy</a:t>
            </a: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96034" y="6842759"/>
            <a:ext cx="1104548" cy="483153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64303" y="6781164"/>
            <a:ext cx="1971039" cy="574886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5444" y="6883822"/>
            <a:ext cx="1868382" cy="369570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4115844" y="5533644"/>
            <a:ext cx="1652270" cy="814069"/>
            <a:chOff x="4115844" y="5533644"/>
            <a:chExt cx="1652270" cy="814069"/>
          </a:xfrm>
        </p:grpSpPr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15844" y="5533644"/>
              <a:ext cx="637032" cy="676656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4187494" y="5585247"/>
              <a:ext cx="492759" cy="536575"/>
            </a:xfrm>
            <a:custGeom>
              <a:avLst/>
              <a:gdLst/>
              <a:ahLst/>
              <a:cxnLst/>
              <a:rect l="l" t="t" r="r" b="b"/>
              <a:pathLst>
                <a:path w="492760" h="536575">
                  <a:moveTo>
                    <a:pt x="294002" y="0"/>
                  </a:moveTo>
                  <a:lnTo>
                    <a:pt x="99192" y="264511"/>
                  </a:lnTo>
                  <a:lnTo>
                    <a:pt x="0" y="191457"/>
                  </a:lnTo>
                  <a:lnTo>
                    <a:pt x="52277" y="535947"/>
                  </a:lnTo>
                  <a:lnTo>
                    <a:pt x="396765" y="483671"/>
                  </a:lnTo>
                  <a:lnTo>
                    <a:pt x="297574" y="410618"/>
                  </a:lnTo>
                  <a:lnTo>
                    <a:pt x="492385" y="146107"/>
                  </a:lnTo>
                  <a:lnTo>
                    <a:pt x="29400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187495" y="5585248"/>
              <a:ext cx="492759" cy="536575"/>
            </a:xfrm>
            <a:custGeom>
              <a:avLst/>
              <a:gdLst/>
              <a:ahLst/>
              <a:cxnLst/>
              <a:rect l="l" t="t" r="r" b="b"/>
              <a:pathLst>
                <a:path w="492760" h="536575">
                  <a:moveTo>
                    <a:pt x="0" y="191457"/>
                  </a:moveTo>
                  <a:lnTo>
                    <a:pt x="99191" y="264510"/>
                  </a:lnTo>
                  <a:lnTo>
                    <a:pt x="294001" y="0"/>
                  </a:lnTo>
                  <a:lnTo>
                    <a:pt x="492384" y="146107"/>
                  </a:lnTo>
                  <a:lnTo>
                    <a:pt x="297574" y="410618"/>
                  </a:lnTo>
                  <a:lnTo>
                    <a:pt x="396765" y="483671"/>
                  </a:lnTo>
                  <a:lnTo>
                    <a:pt x="52276" y="535947"/>
                  </a:lnTo>
                  <a:lnTo>
                    <a:pt x="0" y="191457"/>
                  </a:lnTo>
                  <a:close/>
                </a:path>
              </a:pathLst>
            </a:custGeom>
            <a:ln w="4106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03524" y="5631180"/>
              <a:ext cx="679703" cy="716279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4697673" y="5675876"/>
              <a:ext cx="492759" cy="575310"/>
            </a:xfrm>
            <a:custGeom>
              <a:avLst/>
              <a:gdLst/>
              <a:ahLst/>
              <a:cxnLst/>
              <a:rect l="l" t="t" r="r" b="b"/>
              <a:pathLst>
                <a:path w="492760" h="575310">
                  <a:moveTo>
                    <a:pt x="369569" y="0"/>
                  </a:moveTo>
                  <a:lnTo>
                    <a:pt x="123189" y="0"/>
                  </a:lnTo>
                  <a:lnTo>
                    <a:pt x="123189" y="328507"/>
                  </a:lnTo>
                  <a:lnTo>
                    <a:pt x="0" y="328507"/>
                  </a:lnTo>
                  <a:lnTo>
                    <a:pt x="246381" y="574887"/>
                  </a:lnTo>
                  <a:lnTo>
                    <a:pt x="492759" y="328507"/>
                  </a:lnTo>
                  <a:lnTo>
                    <a:pt x="369569" y="328507"/>
                  </a:lnTo>
                  <a:lnTo>
                    <a:pt x="36956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697673" y="5675876"/>
              <a:ext cx="492759" cy="575310"/>
            </a:xfrm>
            <a:custGeom>
              <a:avLst/>
              <a:gdLst/>
              <a:ahLst/>
              <a:cxnLst/>
              <a:rect l="l" t="t" r="r" b="b"/>
              <a:pathLst>
                <a:path w="492760" h="575310">
                  <a:moveTo>
                    <a:pt x="0" y="328507"/>
                  </a:moveTo>
                  <a:lnTo>
                    <a:pt x="123190" y="328507"/>
                  </a:lnTo>
                  <a:lnTo>
                    <a:pt x="123190" y="0"/>
                  </a:lnTo>
                  <a:lnTo>
                    <a:pt x="369569" y="0"/>
                  </a:lnTo>
                  <a:lnTo>
                    <a:pt x="369569" y="328507"/>
                  </a:lnTo>
                  <a:lnTo>
                    <a:pt x="492759" y="328507"/>
                  </a:lnTo>
                  <a:lnTo>
                    <a:pt x="246380" y="574886"/>
                  </a:lnTo>
                  <a:lnTo>
                    <a:pt x="0" y="328507"/>
                  </a:lnTo>
                  <a:close/>
                </a:path>
              </a:pathLst>
            </a:custGeom>
            <a:ln w="4106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30828" y="5539740"/>
              <a:ext cx="637031" cy="658368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5203012" y="5590932"/>
              <a:ext cx="494665" cy="518159"/>
            </a:xfrm>
            <a:custGeom>
              <a:avLst/>
              <a:gdLst/>
              <a:ahLst/>
              <a:cxnLst/>
              <a:rect l="l" t="t" r="r" b="b"/>
              <a:pathLst>
                <a:path w="494664" h="518160">
                  <a:moveTo>
                    <a:pt x="187758" y="0"/>
                  </a:moveTo>
                  <a:lnTo>
                    <a:pt x="0" y="159529"/>
                  </a:lnTo>
                  <a:lnTo>
                    <a:pt x="212707" y="409874"/>
                  </a:lnTo>
                  <a:lnTo>
                    <a:pt x="118827" y="489639"/>
                  </a:lnTo>
                  <a:lnTo>
                    <a:pt x="466116" y="517867"/>
                  </a:lnTo>
                  <a:lnTo>
                    <a:pt x="494344" y="170580"/>
                  </a:lnTo>
                  <a:lnTo>
                    <a:pt x="400465" y="250344"/>
                  </a:lnTo>
                  <a:lnTo>
                    <a:pt x="18775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203011" y="5590931"/>
              <a:ext cx="494665" cy="518159"/>
            </a:xfrm>
            <a:custGeom>
              <a:avLst/>
              <a:gdLst/>
              <a:ahLst/>
              <a:cxnLst/>
              <a:rect l="l" t="t" r="r" b="b"/>
              <a:pathLst>
                <a:path w="494664" h="518160">
                  <a:moveTo>
                    <a:pt x="118827" y="489640"/>
                  </a:moveTo>
                  <a:lnTo>
                    <a:pt x="212707" y="409874"/>
                  </a:lnTo>
                  <a:lnTo>
                    <a:pt x="0" y="159530"/>
                  </a:lnTo>
                  <a:lnTo>
                    <a:pt x="187758" y="0"/>
                  </a:lnTo>
                  <a:lnTo>
                    <a:pt x="400465" y="250344"/>
                  </a:lnTo>
                  <a:lnTo>
                    <a:pt x="494344" y="170579"/>
                  </a:lnTo>
                  <a:lnTo>
                    <a:pt x="466116" y="517867"/>
                  </a:lnTo>
                  <a:lnTo>
                    <a:pt x="118827" y="489640"/>
                  </a:lnTo>
                  <a:close/>
                </a:path>
              </a:pathLst>
            </a:custGeom>
            <a:ln w="4106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2237599" y="4755388"/>
            <a:ext cx="512064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latin typeface="Arial"/>
                <a:cs typeface="Arial"/>
              </a:rPr>
              <a:t>Easy</a:t>
            </a:r>
            <a:r>
              <a:rPr dirty="0" sz="1900" spc="6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integration</a:t>
            </a:r>
            <a:r>
              <a:rPr dirty="0" sz="1900" spc="6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|</a:t>
            </a:r>
            <a:r>
              <a:rPr dirty="0" sz="1900" spc="5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Hosted</a:t>
            </a:r>
            <a:r>
              <a:rPr dirty="0" sz="1900" spc="6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service</a:t>
            </a:r>
            <a:r>
              <a:rPr dirty="0" sz="1900" spc="6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|</a:t>
            </a:r>
            <a:r>
              <a:rPr dirty="0" sz="1900" spc="5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Zero</a:t>
            </a:r>
            <a:r>
              <a:rPr dirty="0" sz="1900" spc="6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coding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7642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Deliverability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77192" y="1910079"/>
            <a:ext cx="8326120" cy="389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2270" indent="-36957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82270" algn="l"/>
              </a:tabLst>
            </a:pPr>
            <a:r>
              <a:rPr dirty="0" sz="5200">
                <a:solidFill>
                  <a:srgbClr val="595959"/>
                </a:solidFill>
                <a:latin typeface="Calibri"/>
                <a:cs typeface="Calibri"/>
              </a:rPr>
              <a:t>20%</a:t>
            </a:r>
            <a:r>
              <a:rPr dirty="0" sz="5200" spc="-1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5200" spc="-40">
                <a:solidFill>
                  <a:srgbClr val="595959"/>
                </a:solidFill>
                <a:latin typeface="Calibri"/>
                <a:cs typeface="Calibri"/>
              </a:rPr>
              <a:t>non-</a:t>
            </a:r>
            <a:r>
              <a:rPr dirty="0" sz="5200">
                <a:solidFill>
                  <a:srgbClr val="595959"/>
                </a:solidFill>
                <a:latin typeface="Calibri"/>
                <a:cs typeface="Calibri"/>
              </a:rPr>
              <a:t>delivery</a:t>
            </a:r>
            <a:r>
              <a:rPr dirty="0" sz="5200" spc="-10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520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dirty="0" sz="5200" spc="-1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5200" spc="-10">
                <a:solidFill>
                  <a:srgbClr val="595959"/>
                </a:solidFill>
                <a:latin typeface="Calibri"/>
                <a:cs typeface="Calibri"/>
              </a:rPr>
              <a:t>typical</a:t>
            </a:r>
            <a:endParaRPr sz="5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15"/>
              </a:spcBef>
              <a:buClr>
                <a:srgbClr val="595959"/>
              </a:buClr>
              <a:buFont typeface="Arial"/>
              <a:buChar char="•"/>
            </a:pPr>
            <a:endParaRPr sz="5200">
              <a:latin typeface="Calibri"/>
              <a:cs typeface="Calibri"/>
            </a:endParaRPr>
          </a:p>
          <a:p>
            <a:pPr marL="382270" indent="-369570">
              <a:lnSpc>
                <a:spcPct val="100000"/>
              </a:lnSpc>
              <a:buFont typeface="Arial"/>
              <a:buChar char="•"/>
              <a:tabLst>
                <a:tab pos="382270" algn="l"/>
              </a:tabLst>
            </a:pPr>
            <a:r>
              <a:rPr dirty="0" sz="5200">
                <a:solidFill>
                  <a:srgbClr val="595959"/>
                </a:solidFill>
                <a:latin typeface="Calibri"/>
                <a:cs typeface="Calibri"/>
              </a:rPr>
              <a:t>Costly</a:t>
            </a:r>
            <a:r>
              <a:rPr dirty="0" sz="5200" spc="-1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5200">
                <a:solidFill>
                  <a:srgbClr val="595959"/>
                </a:solidFill>
                <a:latin typeface="Calibri"/>
                <a:cs typeface="Calibri"/>
              </a:rPr>
              <a:t>–</a:t>
            </a:r>
            <a:r>
              <a:rPr dirty="0" sz="5200" spc="-13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5200">
                <a:solidFill>
                  <a:srgbClr val="595959"/>
                </a:solidFill>
                <a:latin typeface="Calibri"/>
                <a:cs typeface="Calibri"/>
              </a:rPr>
              <a:t>missed</a:t>
            </a:r>
            <a:r>
              <a:rPr dirty="0" sz="5200" spc="-1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5200" spc="-10">
                <a:solidFill>
                  <a:srgbClr val="595959"/>
                </a:solidFill>
                <a:latin typeface="Calibri"/>
                <a:cs typeface="Calibri"/>
              </a:rPr>
              <a:t>opportunities</a:t>
            </a:r>
            <a:endParaRPr sz="5200">
              <a:latin typeface="Calibri"/>
              <a:cs typeface="Calibri"/>
            </a:endParaRPr>
          </a:p>
          <a:p>
            <a:pPr marL="812800" marR="5080" indent="-307975">
              <a:lnSpc>
                <a:spcPct val="102899"/>
              </a:lnSpc>
              <a:spcBef>
                <a:spcPts val="940"/>
              </a:spcBef>
            </a:pPr>
            <a:r>
              <a:rPr dirty="0" sz="3400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dirty="0" sz="3400" spc="-40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If</a:t>
            </a:r>
            <a:r>
              <a:rPr dirty="0" sz="3400" spc="4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1%</a:t>
            </a:r>
            <a:r>
              <a:rPr dirty="0" sz="3400" spc="7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dirty="0" sz="3400" spc="4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Ebay’s</a:t>
            </a:r>
            <a:r>
              <a:rPr dirty="0" sz="3400" spc="5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yearly</a:t>
            </a:r>
            <a:r>
              <a:rPr dirty="0" sz="3400" spc="5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email</a:t>
            </a:r>
            <a:r>
              <a:rPr dirty="0" sz="3400" spc="5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dirty="0" sz="3400" spc="5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missing</a:t>
            </a:r>
            <a:r>
              <a:rPr dirty="0" sz="3400" spc="6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595959"/>
                </a:solidFill>
                <a:latin typeface="Calibri"/>
                <a:cs typeface="Calibri"/>
              </a:rPr>
              <a:t>they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lose</a:t>
            </a:r>
            <a:r>
              <a:rPr dirty="0" sz="3400" spc="8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$14</a:t>
            </a:r>
            <a:r>
              <a:rPr dirty="0" sz="3400" spc="9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million</a:t>
            </a:r>
            <a:r>
              <a:rPr dirty="0" sz="3400" spc="1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595959"/>
                </a:solidFill>
                <a:latin typeface="Calibri"/>
                <a:cs typeface="Calibri"/>
              </a:rPr>
              <a:t>dollars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11530">
              <a:lnSpc>
                <a:spcPct val="100000"/>
              </a:lnSpc>
              <a:spcBef>
                <a:spcPts val="100"/>
              </a:spcBef>
            </a:pPr>
            <a:r>
              <a:rPr dirty="0"/>
              <a:t>Deliverability</a:t>
            </a:r>
            <a:r>
              <a:rPr dirty="0" spc="-65"/>
              <a:t> </a:t>
            </a:r>
            <a:r>
              <a:rPr dirty="0" spc="-10"/>
              <a:t>(solved)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23345" y="2312105"/>
            <a:ext cx="7122795" cy="3547745"/>
            <a:chOff x="123345" y="2312105"/>
            <a:chExt cx="7122795" cy="354774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84604" y="4837789"/>
              <a:ext cx="2270560" cy="59851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2515" y="4296155"/>
              <a:ext cx="1563624" cy="156362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23345" y="4329017"/>
              <a:ext cx="2005330" cy="1419225"/>
            </a:xfrm>
            <a:custGeom>
              <a:avLst/>
              <a:gdLst/>
              <a:ahLst/>
              <a:cxnLst/>
              <a:rect l="l" t="t" r="r" b="b"/>
              <a:pathLst>
                <a:path w="2005330" h="1419225">
                  <a:moveTo>
                    <a:pt x="773184" y="0"/>
                  </a:moveTo>
                  <a:lnTo>
                    <a:pt x="225507" y="16099"/>
                  </a:lnTo>
                  <a:lnTo>
                    <a:pt x="91677" y="415187"/>
                  </a:lnTo>
                  <a:lnTo>
                    <a:pt x="0" y="1082013"/>
                  </a:lnTo>
                  <a:lnTo>
                    <a:pt x="377941" y="1202216"/>
                  </a:lnTo>
                  <a:lnTo>
                    <a:pt x="1134970" y="1350951"/>
                  </a:lnTo>
                  <a:lnTo>
                    <a:pt x="1745843" y="1419103"/>
                  </a:lnTo>
                  <a:lnTo>
                    <a:pt x="1929239" y="832904"/>
                  </a:lnTo>
                  <a:lnTo>
                    <a:pt x="2004821" y="298700"/>
                  </a:lnTo>
                  <a:lnTo>
                    <a:pt x="1349328" y="80587"/>
                  </a:lnTo>
                  <a:lnTo>
                    <a:pt x="773184" y="0"/>
                  </a:lnTo>
                  <a:close/>
                </a:path>
              </a:pathLst>
            </a:custGeom>
            <a:solidFill>
              <a:srgbClr val="FFFF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7500" y="2312105"/>
              <a:ext cx="6464900" cy="3354241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5933299" y="2441955"/>
            <a:ext cx="63754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0">
                <a:latin typeface="Arial"/>
                <a:cs typeface="Arial"/>
              </a:rPr>
              <a:t>DKIM</a:t>
            </a:r>
            <a:endParaRPr sz="19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401851" y="2719323"/>
            <a:ext cx="1515110" cy="873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3655">
              <a:lnSpc>
                <a:spcPct val="146300"/>
              </a:lnSpc>
              <a:spcBef>
                <a:spcPts val="100"/>
              </a:spcBef>
            </a:pPr>
            <a:r>
              <a:rPr dirty="0" sz="1900" spc="-10">
                <a:latin typeface="Arial"/>
                <a:cs typeface="Arial"/>
              </a:rPr>
              <a:t>DomainKeys Unsubscribes</a:t>
            </a:r>
            <a:endParaRPr sz="19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319724" y="2441955"/>
            <a:ext cx="305117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58415" algn="l"/>
              </a:tabLst>
            </a:pPr>
            <a:r>
              <a:rPr dirty="0" sz="1900">
                <a:latin typeface="Arial"/>
                <a:cs typeface="Arial"/>
              </a:rPr>
              <a:t>Delivery</a:t>
            </a:r>
            <a:r>
              <a:rPr dirty="0" sz="1900" spc="8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Monitoring</a:t>
            </a:r>
            <a:r>
              <a:rPr dirty="0" sz="1900">
                <a:latin typeface="Arial"/>
                <a:cs typeface="Arial"/>
              </a:rPr>
              <a:t>	</a:t>
            </a:r>
            <a:r>
              <a:rPr dirty="0" sz="1900" spc="-25">
                <a:latin typeface="Arial"/>
                <a:cs typeface="Arial"/>
              </a:rPr>
              <a:t>SPF</a:t>
            </a:r>
            <a:endParaRPr sz="190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97505" y="3886200"/>
            <a:ext cx="1104548" cy="48315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51942" y="5795644"/>
            <a:ext cx="1971039" cy="574886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93005" y="4871720"/>
            <a:ext cx="1868382" cy="369569"/>
          </a:xfrm>
          <a:prstGeom prst="rect">
            <a:avLst/>
          </a:prstGeom>
        </p:spPr>
      </p:pic>
      <p:grpSp>
        <p:nvGrpSpPr>
          <p:cNvPr id="14" name="object 14" descr=""/>
          <p:cNvGrpSpPr/>
          <p:nvPr/>
        </p:nvGrpSpPr>
        <p:grpSpPr>
          <a:xfrm>
            <a:off x="7229912" y="4858032"/>
            <a:ext cx="684530" cy="386715"/>
            <a:chOff x="7229912" y="4858032"/>
            <a:chExt cx="684530" cy="386715"/>
          </a:xfrm>
        </p:grpSpPr>
        <p:sp>
          <p:nvSpPr>
            <p:cNvPr id="15" name="object 15" descr=""/>
            <p:cNvSpPr/>
            <p:nvPr/>
          </p:nvSpPr>
          <p:spPr>
            <a:xfrm>
              <a:off x="7243599" y="4871719"/>
              <a:ext cx="657225" cy="359410"/>
            </a:xfrm>
            <a:custGeom>
              <a:avLst/>
              <a:gdLst/>
              <a:ahLst/>
              <a:cxnLst/>
              <a:rect l="l" t="t" r="r" b="b"/>
              <a:pathLst>
                <a:path w="657225" h="359410">
                  <a:moveTo>
                    <a:pt x="477361" y="0"/>
                  </a:moveTo>
                  <a:lnTo>
                    <a:pt x="477361" y="89825"/>
                  </a:lnTo>
                  <a:lnTo>
                    <a:pt x="0" y="89825"/>
                  </a:lnTo>
                  <a:lnTo>
                    <a:pt x="0" y="269478"/>
                  </a:lnTo>
                  <a:lnTo>
                    <a:pt x="477361" y="269478"/>
                  </a:lnTo>
                  <a:lnTo>
                    <a:pt x="477361" y="359304"/>
                  </a:lnTo>
                  <a:lnTo>
                    <a:pt x="657012" y="179651"/>
                  </a:lnTo>
                  <a:lnTo>
                    <a:pt x="477361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243599" y="4871719"/>
              <a:ext cx="657225" cy="359410"/>
            </a:xfrm>
            <a:custGeom>
              <a:avLst/>
              <a:gdLst/>
              <a:ahLst/>
              <a:cxnLst/>
              <a:rect l="l" t="t" r="r" b="b"/>
              <a:pathLst>
                <a:path w="657225" h="359410">
                  <a:moveTo>
                    <a:pt x="0" y="89826"/>
                  </a:moveTo>
                  <a:lnTo>
                    <a:pt x="477361" y="89826"/>
                  </a:lnTo>
                  <a:lnTo>
                    <a:pt x="477361" y="0"/>
                  </a:lnTo>
                  <a:lnTo>
                    <a:pt x="657013" y="179652"/>
                  </a:lnTo>
                  <a:lnTo>
                    <a:pt x="477361" y="359304"/>
                  </a:lnTo>
                  <a:lnTo>
                    <a:pt x="477361" y="269478"/>
                  </a:lnTo>
                  <a:lnTo>
                    <a:pt x="0" y="269478"/>
                  </a:lnTo>
                  <a:lnTo>
                    <a:pt x="0" y="89826"/>
                  </a:lnTo>
                  <a:close/>
                </a:path>
              </a:pathLst>
            </a:custGeom>
            <a:ln w="27375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2648231" y="3676396"/>
            <a:ext cx="383349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8520" algn="l"/>
              </a:tabLst>
            </a:pPr>
            <a:r>
              <a:rPr dirty="0" sz="1900">
                <a:latin typeface="Arial"/>
                <a:cs typeface="Arial"/>
              </a:rPr>
              <a:t>Feedback</a:t>
            </a:r>
            <a:r>
              <a:rPr dirty="0" sz="1900" spc="100">
                <a:latin typeface="Arial"/>
                <a:cs typeface="Arial"/>
              </a:rPr>
              <a:t> </a:t>
            </a:r>
            <a:r>
              <a:rPr dirty="0" sz="1900" spc="-20">
                <a:latin typeface="Arial"/>
                <a:cs typeface="Arial"/>
              </a:rPr>
              <a:t>Loop</a:t>
            </a:r>
            <a:r>
              <a:rPr dirty="0" sz="1900">
                <a:latin typeface="Arial"/>
                <a:cs typeface="Arial"/>
              </a:rPr>
              <a:t>	ISP</a:t>
            </a:r>
            <a:r>
              <a:rPr dirty="0" sz="1900" spc="2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Rate</a:t>
            </a:r>
            <a:r>
              <a:rPr dirty="0" sz="1900" spc="5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Limits</a:t>
            </a:r>
            <a:endParaRPr sz="19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208638" y="2755900"/>
            <a:ext cx="2359025" cy="824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5250">
              <a:lnSpc>
                <a:spcPct val="137900"/>
              </a:lnSpc>
              <a:spcBef>
                <a:spcPts val="100"/>
              </a:spcBef>
              <a:tabLst>
                <a:tab pos="1064260" algn="l"/>
              </a:tabLst>
            </a:pPr>
            <a:r>
              <a:rPr dirty="0" sz="1900">
                <a:latin typeface="Arial"/>
                <a:cs typeface="Arial"/>
              </a:rPr>
              <a:t>Soft/Hard</a:t>
            </a:r>
            <a:r>
              <a:rPr dirty="0" sz="1900" spc="9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Bounces </a:t>
            </a:r>
            <a:r>
              <a:rPr dirty="0" sz="1900" spc="-20">
                <a:latin typeface="Arial"/>
                <a:cs typeface="Arial"/>
              </a:rPr>
              <a:t>RDNS</a:t>
            </a:r>
            <a:r>
              <a:rPr dirty="0" sz="1900">
                <a:latin typeface="Arial"/>
                <a:cs typeface="Arial"/>
              </a:rPr>
              <a:t>	CAN-</a:t>
            </a:r>
            <a:r>
              <a:rPr dirty="0" sz="1900" spc="-20">
                <a:latin typeface="Arial"/>
                <a:cs typeface="Arial"/>
              </a:rPr>
              <a:t>SPAM</a:t>
            </a:r>
            <a:endParaRPr sz="19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662711" y="5975603"/>
            <a:ext cx="4347210" cy="8058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85"/>
              </a:spcBef>
            </a:pPr>
            <a:r>
              <a:rPr dirty="0" sz="1700">
                <a:latin typeface="Arial"/>
                <a:cs typeface="Arial"/>
              </a:rPr>
              <a:t>Expert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system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in</a:t>
            </a:r>
            <a:r>
              <a:rPr dirty="0" sz="1700" spc="2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transactional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email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to</a:t>
            </a:r>
            <a:r>
              <a:rPr dirty="0" sz="1700" spc="2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solve </a:t>
            </a:r>
            <a:r>
              <a:rPr dirty="0" sz="1700">
                <a:latin typeface="Arial"/>
                <a:cs typeface="Arial"/>
              </a:rPr>
              <a:t>problems.</a:t>
            </a:r>
            <a:r>
              <a:rPr dirty="0" sz="1700" spc="20">
                <a:latin typeface="Arial"/>
                <a:cs typeface="Arial"/>
              </a:rPr>
              <a:t>  </a:t>
            </a:r>
            <a:r>
              <a:rPr dirty="0" sz="1700">
                <a:latin typeface="Arial"/>
                <a:cs typeface="Arial"/>
              </a:rPr>
              <a:t>On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average</a:t>
            </a:r>
            <a:r>
              <a:rPr dirty="0" sz="1700" spc="2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users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increase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20% </a:t>
            </a:r>
            <a:r>
              <a:rPr dirty="0" sz="1700">
                <a:latin typeface="Arial"/>
                <a:cs typeface="Arial"/>
              </a:rPr>
              <a:t>deliverability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by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using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SendGrid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6822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Scalability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420" y="3147060"/>
            <a:ext cx="1234440" cy="1234439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8146992" y="3064932"/>
            <a:ext cx="1642745" cy="1231900"/>
            <a:chOff x="8146992" y="3064932"/>
            <a:chExt cx="1642745" cy="12319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46992" y="3064932"/>
              <a:ext cx="1236969" cy="123190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19576" y="3733082"/>
              <a:ext cx="569949" cy="563750"/>
            </a:xfrm>
            <a:prstGeom prst="rect">
              <a:avLst/>
            </a:prstGeom>
          </p:spPr>
        </p:pic>
      </p:grpSp>
      <p:grpSp>
        <p:nvGrpSpPr>
          <p:cNvPr id="7" name="object 7" descr=""/>
          <p:cNvGrpSpPr/>
          <p:nvPr/>
        </p:nvGrpSpPr>
        <p:grpSpPr>
          <a:xfrm>
            <a:off x="2003580" y="3403091"/>
            <a:ext cx="878205" cy="762000"/>
            <a:chOff x="2003580" y="3403091"/>
            <a:chExt cx="878205" cy="762000"/>
          </a:xfrm>
        </p:grpSpPr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3580" y="3403091"/>
              <a:ext cx="877824" cy="76200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069620" y="3475566"/>
              <a:ext cx="739140" cy="575310"/>
            </a:xfrm>
            <a:custGeom>
              <a:avLst/>
              <a:gdLst/>
              <a:ahLst/>
              <a:cxnLst/>
              <a:rect l="l" t="t" r="r" b="b"/>
              <a:pathLst>
                <a:path w="739139" h="575310">
                  <a:moveTo>
                    <a:pt x="451697" y="0"/>
                  </a:moveTo>
                  <a:lnTo>
                    <a:pt x="451697" y="143720"/>
                  </a:lnTo>
                  <a:lnTo>
                    <a:pt x="0" y="143720"/>
                  </a:lnTo>
                  <a:lnTo>
                    <a:pt x="0" y="431164"/>
                  </a:lnTo>
                  <a:lnTo>
                    <a:pt x="451697" y="431164"/>
                  </a:lnTo>
                  <a:lnTo>
                    <a:pt x="451697" y="574885"/>
                  </a:lnTo>
                  <a:lnTo>
                    <a:pt x="739140" y="287442"/>
                  </a:lnTo>
                  <a:lnTo>
                    <a:pt x="451697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069620" y="3475566"/>
              <a:ext cx="739140" cy="575310"/>
            </a:xfrm>
            <a:custGeom>
              <a:avLst/>
              <a:gdLst/>
              <a:ahLst/>
              <a:cxnLst/>
              <a:rect l="l" t="t" r="r" b="b"/>
              <a:pathLst>
                <a:path w="739139" h="575310">
                  <a:moveTo>
                    <a:pt x="0" y="143721"/>
                  </a:moveTo>
                  <a:lnTo>
                    <a:pt x="451696" y="143721"/>
                  </a:lnTo>
                  <a:lnTo>
                    <a:pt x="451696" y="0"/>
                  </a:lnTo>
                  <a:lnTo>
                    <a:pt x="739139" y="287443"/>
                  </a:lnTo>
                  <a:lnTo>
                    <a:pt x="451696" y="574886"/>
                  </a:lnTo>
                  <a:lnTo>
                    <a:pt x="451696" y="431164"/>
                  </a:lnTo>
                  <a:lnTo>
                    <a:pt x="0" y="431164"/>
                  </a:lnTo>
                  <a:lnTo>
                    <a:pt x="0" y="143721"/>
                  </a:lnTo>
                  <a:close/>
                </a:path>
              </a:pathLst>
            </a:custGeom>
            <a:ln w="4106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08790" y="4416601"/>
            <a:ext cx="653356" cy="865751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08790" y="2363435"/>
            <a:ext cx="653356" cy="86575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40586" y="4416601"/>
            <a:ext cx="651997" cy="865751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40586" y="3431081"/>
            <a:ext cx="651997" cy="865751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40586" y="2363435"/>
            <a:ext cx="651997" cy="86575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08686" y="3431081"/>
            <a:ext cx="651997" cy="865751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7096787" y="3403091"/>
            <a:ext cx="878205" cy="762000"/>
            <a:chOff x="7096787" y="3403091"/>
            <a:chExt cx="878205" cy="762000"/>
          </a:xfrm>
        </p:grpSpPr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96787" y="3403091"/>
              <a:ext cx="877824" cy="762000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7161472" y="3475566"/>
              <a:ext cx="739140" cy="575310"/>
            </a:xfrm>
            <a:custGeom>
              <a:avLst/>
              <a:gdLst/>
              <a:ahLst/>
              <a:cxnLst/>
              <a:rect l="l" t="t" r="r" b="b"/>
              <a:pathLst>
                <a:path w="739140" h="575310">
                  <a:moveTo>
                    <a:pt x="451697" y="0"/>
                  </a:moveTo>
                  <a:lnTo>
                    <a:pt x="451697" y="143720"/>
                  </a:lnTo>
                  <a:lnTo>
                    <a:pt x="0" y="143720"/>
                  </a:lnTo>
                  <a:lnTo>
                    <a:pt x="0" y="431164"/>
                  </a:lnTo>
                  <a:lnTo>
                    <a:pt x="451697" y="431164"/>
                  </a:lnTo>
                  <a:lnTo>
                    <a:pt x="451697" y="574885"/>
                  </a:lnTo>
                  <a:lnTo>
                    <a:pt x="739140" y="287442"/>
                  </a:lnTo>
                  <a:lnTo>
                    <a:pt x="451697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161472" y="3475566"/>
              <a:ext cx="739140" cy="575310"/>
            </a:xfrm>
            <a:custGeom>
              <a:avLst/>
              <a:gdLst/>
              <a:ahLst/>
              <a:cxnLst/>
              <a:rect l="l" t="t" r="r" b="b"/>
              <a:pathLst>
                <a:path w="739140" h="575310">
                  <a:moveTo>
                    <a:pt x="0" y="143721"/>
                  </a:moveTo>
                  <a:lnTo>
                    <a:pt x="451696" y="143721"/>
                  </a:lnTo>
                  <a:lnTo>
                    <a:pt x="451696" y="0"/>
                  </a:lnTo>
                  <a:lnTo>
                    <a:pt x="739139" y="287443"/>
                  </a:lnTo>
                  <a:lnTo>
                    <a:pt x="451696" y="574886"/>
                  </a:lnTo>
                  <a:lnTo>
                    <a:pt x="451696" y="431164"/>
                  </a:lnTo>
                  <a:lnTo>
                    <a:pt x="0" y="431164"/>
                  </a:lnTo>
                  <a:lnTo>
                    <a:pt x="0" y="143721"/>
                  </a:lnTo>
                  <a:close/>
                </a:path>
              </a:pathLst>
            </a:custGeom>
            <a:ln w="4106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1744839" y="5645404"/>
            <a:ext cx="5989955" cy="6076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dirty="0" sz="1900">
                <a:latin typeface="Arial"/>
                <a:cs typeface="Arial"/>
              </a:rPr>
              <a:t>The</a:t>
            </a:r>
            <a:r>
              <a:rPr dirty="0" sz="1900" spc="5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more</a:t>
            </a:r>
            <a:r>
              <a:rPr dirty="0" sz="1900" spc="5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email</a:t>
            </a:r>
            <a:r>
              <a:rPr dirty="0" sz="1900" spc="5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sent</a:t>
            </a:r>
            <a:r>
              <a:rPr dirty="0" sz="1900" spc="4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the</a:t>
            </a:r>
            <a:r>
              <a:rPr dirty="0" sz="1900" spc="5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more</a:t>
            </a:r>
            <a:r>
              <a:rPr dirty="0" sz="1900" spc="6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hardware</a:t>
            </a:r>
            <a:r>
              <a:rPr dirty="0" sz="1900" spc="5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needed,</a:t>
            </a:r>
            <a:r>
              <a:rPr dirty="0" sz="1900" spc="45">
                <a:latin typeface="Arial"/>
                <a:cs typeface="Arial"/>
              </a:rPr>
              <a:t> </a:t>
            </a:r>
            <a:r>
              <a:rPr dirty="0" sz="1900" spc="-20">
                <a:latin typeface="Arial"/>
                <a:cs typeface="Arial"/>
              </a:rPr>
              <a:t>more </a:t>
            </a:r>
            <a:r>
              <a:rPr dirty="0" sz="1900">
                <a:latin typeface="Arial"/>
                <a:cs typeface="Arial"/>
              </a:rPr>
              <a:t>software</a:t>
            </a:r>
            <a:r>
              <a:rPr dirty="0" sz="1900" spc="5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to</a:t>
            </a:r>
            <a:r>
              <a:rPr dirty="0" sz="1900" spc="5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configure,</a:t>
            </a:r>
            <a:r>
              <a:rPr dirty="0" sz="1900" spc="4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and</a:t>
            </a:r>
            <a:r>
              <a:rPr dirty="0" sz="1900" spc="5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more</a:t>
            </a:r>
            <a:r>
              <a:rPr dirty="0" sz="1900" spc="5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servers</a:t>
            </a:r>
            <a:r>
              <a:rPr dirty="0" sz="1900" spc="5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to</a:t>
            </a:r>
            <a:r>
              <a:rPr dirty="0" sz="1900" spc="5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maintain.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003580" y="2982806"/>
            <a:ext cx="4860290" cy="1724660"/>
            <a:chOff x="2003580" y="2982806"/>
            <a:chExt cx="4860290" cy="172466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01152" y="2982806"/>
              <a:ext cx="3962611" cy="172466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03580" y="3403092"/>
              <a:ext cx="877824" cy="76200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069620" y="3475567"/>
              <a:ext cx="739140" cy="575310"/>
            </a:xfrm>
            <a:custGeom>
              <a:avLst/>
              <a:gdLst/>
              <a:ahLst/>
              <a:cxnLst/>
              <a:rect l="l" t="t" r="r" b="b"/>
              <a:pathLst>
                <a:path w="739139" h="575310">
                  <a:moveTo>
                    <a:pt x="451697" y="0"/>
                  </a:moveTo>
                  <a:lnTo>
                    <a:pt x="451697" y="143720"/>
                  </a:lnTo>
                  <a:lnTo>
                    <a:pt x="0" y="143720"/>
                  </a:lnTo>
                  <a:lnTo>
                    <a:pt x="0" y="431164"/>
                  </a:lnTo>
                  <a:lnTo>
                    <a:pt x="451697" y="431164"/>
                  </a:lnTo>
                  <a:lnTo>
                    <a:pt x="451697" y="574885"/>
                  </a:lnTo>
                  <a:lnTo>
                    <a:pt x="739140" y="287442"/>
                  </a:lnTo>
                  <a:lnTo>
                    <a:pt x="451697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069620" y="3475567"/>
              <a:ext cx="739140" cy="575310"/>
            </a:xfrm>
            <a:custGeom>
              <a:avLst/>
              <a:gdLst/>
              <a:ahLst/>
              <a:cxnLst/>
              <a:rect l="l" t="t" r="r" b="b"/>
              <a:pathLst>
                <a:path w="739139" h="575310">
                  <a:moveTo>
                    <a:pt x="0" y="143721"/>
                  </a:moveTo>
                  <a:lnTo>
                    <a:pt x="451696" y="143721"/>
                  </a:lnTo>
                  <a:lnTo>
                    <a:pt x="451696" y="0"/>
                  </a:lnTo>
                  <a:lnTo>
                    <a:pt x="739139" y="287443"/>
                  </a:lnTo>
                  <a:lnTo>
                    <a:pt x="451696" y="574886"/>
                  </a:lnTo>
                  <a:lnTo>
                    <a:pt x="451696" y="431164"/>
                  </a:lnTo>
                  <a:lnTo>
                    <a:pt x="0" y="431164"/>
                  </a:lnTo>
                  <a:lnTo>
                    <a:pt x="0" y="143721"/>
                  </a:lnTo>
                  <a:close/>
                </a:path>
              </a:pathLst>
            </a:custGeom>
            <a:ln w="4106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03325">
              <a:lnSpc>
                <a:spcPct val="100000"/>
              </a:lnSpc>
              <a:spcBef>
                <a:spcPts val="100"/>
              </a:spcBef>
            </a:pPr>
            <a:r>
              <a:rPr dirty="0"/>
              <a:t>Scalability</a:t>
            </a:r>
            <a:r>
              <a:rPr dirty="0" spc="50"/>
              <a:t> </a:t>
            </a:r>
            <a:r>
              <a:rPr dirty="0" spc="-10"/>
              <a:t>(solved)</a:t>
            </a: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2420" y="3147060"/>
            <a:ext cx="1234440" cy="1234439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8146992" y="3064932"/>
            <a:ext cx="1642745" cy="1231900"/>
            <a:chOff x="8146992" y="3064932"/>
            <a:chExt cx="1642745" cy="1231900"/>
          </a:xfrm>
        </p:grpSpPr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46992" y="3064932"/>
              <a:ext cx="1236969" cy="12319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19576" y="3733082"/>
              <a:ext cx="569949" cy="563750"/>
            </a:xfrm>
            <a:prstGeom prst="rect">
              <a:avLst/>
            </a:prstGeom>
          </p:spPr>
        </p:pic>
      </p:grpSp>
      <p:grpSp>
        <p:nvGrpSpPr>
          <p:cNvPr id="12" name="object 12" descr=""/>
          <p:cNvGrpSpPr/>
          <p:nvPr/>
        </p:nvGrpSpPr>
        <p:grpSpPr>
          <a:xfrm>
            <a:off x="7096787" y="3403091"/>
            <a:ext cx="878205" cy="762000"/>
            <a:chOff x="7096787" y="3403091"/>
            <a:chExt cx="878205" cy="762000"/>
          </a:xfrm>
        </p:grpSpPr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96787" y="3403091"/>
              <a:ext cx="877824" cy="762000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7161472" y="3475566"/>
              <a:ext cx="739140" cy="575310"/>
            </a:xfrm>
            <a:custGeom>
              <a:avLst/>
              <a:gdLst/>
              <a:ahLst/>
              <a:cxnLst/>
              <a:rect l="l" t="t" r="r" b="b"/>
              <a:pathLst>
                <a:path w="739140" h="575310">
                  <a:moveTo>
                    <a:pt x="451697" y="0"/>
                  </a:moveTo>
                  <a:lnTo>
                    <a:pt x="451697" y="143720"/>
                  </a:lnTo>
                  <a:lnTo>
                    <a:pt x="0" y="143720"/>
                  </a:lnTo>
                  <a:lnTo>
                    <a:pt x="0" y="431164"/>
                  </a:lnTo>
                  <a:lnTo>
                    <a:pt x="451697" y="431164"/>
                  </a:lnTo>
                  <a:lnTo>
                    <a:pt x="451697" y="574885"/>
                  </a:lnTo>
                  <a:lnTo>
                    <a:pt x="739140" y="287442"/>
                  </a:lnTo>
                  <a:lnTo>
                    <a:pt x="451697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161472" y="3475566"/>
              <a:ext cx="739140" cy="575310"/>
            </a:xfrm>
            <a:custGeom>
              <a:avLst/>
              <a:gdLst/>
              <a:ahLst/>
              <a:cxnLst/>
              <a:rect l="l" t="t" r="r" b="b"/>
              <a:pathLst>
                <a:path w="739140" h="575310">
                  <a:moveTo>
                    <a:pt x="0" y="143721"/>
                  </a:moveTo>
                  <a:lnTo>
                    <a:pt x="451696" y="143721"/>
                  </a:lnTo>
                  <a:lnTo>
                    <a:pt x="451696" y="0"/>
                  </a:lnTo>
                  <a:lnTo>
                    <a:pt x="739139" y="287443"/>
                  </a:lnTo>
                  <a:lnTo>
                    <a:pt x="451696" y="574886"/>
                  </a:lnTo>
                  <a:lnTo>
                    <a:pt x="451696" y="431164"/>
                  </a:lnTo>
                  <a:lnTo>
                    <a:pt x="0" y="431164"/>
                  </a:lnTo>
                  <a:lnTo>
                    <a:pt x="0" y="143721"/>
                  </a:lnTo>
                  <a:close/>
                </a:path>
              </a:pathLst>
            </a:custGeom>
            <a:ln w="4106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826964" y="5316220"/>
            <a:ext cx="632206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latin typeface="Arial"/>
                <a:cs typeface="Arial"/>
              </a:rPr>
              <a:t>SendGrid</a:t>
            </a:r>
            <a:r>
              <a:rPr dirty="0" sz="1900" spc="5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is</a:t>
            </a:r>
            <a:r>
              <a:rPr dirty="0" sz="1900" spc="6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a</a:t>
            </a:r>
            <a:r>
              <a:rPr dirty="0" sz="1900" spc="6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cloud-based</a:t>
            </a:r>
            <a:r>
              <a:rPr dirty="0" sz="1900" spc="6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service</a:t>
            </a:r>
            <a:r>
              <a:rPr dirty="0" sz="1900" spc="5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that</a:t>
            </a:r>
            <a:r>
              <a:rPr dirty="0" sz="1900" spc="5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scales</a:t>
            </a:r>
            <a:r>
              <a:rPr dirty="0" sz="1900" spc="6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on</a:t>
            </a:r>
            <a:r>
              <a:rPr dirty="0" sz="1900" spc="6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demand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Lack of</a:t>
            </a:r>
            <a:r>
              <a:rPr dirty="0" spc="-10"/>
              <a:t> </a:t>
            </a:r>
            <a:r>
              <a:rPr dirty="0"/>
              <a:t>Insight</a:t>
            </a:r>
            <a:r>
              <a:rPr dirty="0" spc="5"/>
              <a:t> </a:t>
            </a:r>
            <a:r>
              <a:rPr dirty="0"/>
              <a:t>after</a:t>
            </a:r>
            <a:r>
              <a:rPr dirty="0" spc="-5"/>
              <a:t> </a:t>
            </a:r>
            <a:r>
              <a:rPr dirty="0" spc="-10"/>
              <a:t>delivery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1894" y="2014396"/>
            <a:ext cx="5218719" cy="44998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dirty="0"/>
              <a:t>Metrics</a:t>
            </a:r>
            <a:r>
              <a:rPr dirty="0" spc="-35"/>
              <a:t> </a:t>
            </a:r>
            <a:r>
              <a:rPr dirty="0"/>
              <a:t>Provided</a:t>
            </a:r>
            <a:r>
              <a:rPr dirty="0" spc="-5"/>
              <a:t> </a:t>
            </a:r>
            <a:r>
              <a:rPr dirty="0"/>
              <a:t>by</a:t>
            </a:r>
            <a:r>
              <a:rPr dirty="0" spc="5"/>
              <a:t> </a:t>
            </a:r>
            <a:r>
              <a:rPr dirty="0" spc="-10"/>
              <a:t>SendGrid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79" y="1668779"/>
            <a:ext cx="6652259" cy="49139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9728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Time</a:t>
            </a:r>
            <a:r>
              <a:rPr dirty="0" spc="20">
                <a:latin typeface="Arial"/>
                <a:cs typeface="Arial"/>
              </a:rPr>
              <a:t> </a:t>
            </a:r>
            <a:r>
              <a:rPr dirty="0" spc="-10">
                <a:latin typeface="Arial"/>
                <a:cs typeface="Arial"/>
              </a:rPr>
              <a:t>Consuming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77192" y="1910079"/>
            <a:ext cx="6791325" cy="4615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2270" indent="-36957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82270" algn="l"/>
              </a:tabLst>
            </a:pPr>
            <a:r>
              <a:rPr dirty="0" sz="5200">
                <a:solidFill>
                  <a:srgbClr val="595959"/>
                </a:solidFill>
                <a:latin typeface="Calibri"/>
                <a:cs typeface="Calibri"/>
              </a:rPr>
              <a:t>Comply</a:t>
            </a:r>
            <a:r>
              <a:rPr dirty="0" sz="5200" spc="-6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520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dirty="0" sz="5200" spc="-6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5200" spc="-45">
                <a:solidFill>
                  <a:srgbClr val="595959"/>
                </a:solidFill>
                <a:latin typeface="Calibri"/>
                <a:cs typeface="Calibri"/>
              </a:rPr>
              <a:t>CAN-</a:t>
            </a:r>
            <a:r>
              <a:rPr dirty="0" sz="5200" spc="-60">
                <a:solidFill>
                  <a:srgbClr val="595959"/>
                </a:solidFill>
                <a:latin typeface="Calibri"/>
                <a:cs typeface="Calibri"/>
              </a:rPr>
              <a:t>SPAM</a:t>
            </a:r>
            <a:endParaRPr sz="5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15"/>
              </a:spcBef>
              <a:buClr>
                <a:srgbClr val="595959"/>
              </a:buClr>
              <a:buFont typeface="Arial"/>
              <a:buChar char="•"/>
            </a:pPr>
            <a:endParaRPr sz="5200">
              <a:latin typeface="Calibri"/>
              <a:cs typeface="Calibri"/>
            </a:endParaRPr>
          </a:p>
          <a:p>
            <a:pPr marL="382270" indent="-369570">
              <a:lnSpc>
                <a:spcPct val="100000"/>
              </a:lnSpc>
              <a:buFont typeface="Arial"/>
              <a:buChar char="•"/>
              <a:tabLst>
                <a:tab pos="382270" algn="l"/>
              </a:tabLst>
            </a:pPr>
            <a:r>
              <a:rPr dirty="0" sz="5200" spc="-10">
                <a:solidFill>
                  <a:srgbClr val="595959"/>
                </a:solidFill>
                <a:latin typeface="Calibri"/>
                <a:cs typeface="Calibri"/>
              </a:rPr>
              <a:t>Manage</a:t>
            </a:r>
            <a:r>
              <a:rPr dirty="0" sz="5200" spc="-25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5200" spc="-10">
                <a:solidFill>
                  <a:srgbClr val="595959"/>
                </a:solidFill>
                <a:latin typeface="Calibri"/>
                <a:cs typeface="Calibri"/>
              </a:rPr>
              <a:t>unsubscribes</a:t>
            </a:r>
            <a:endParaRPr sz="5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10"/>
              </a:spcBef>
              <a:buClr>
                <a:srgbClr val="595959"/>
              </a:buClr>
              <a:buFont typeface="Arial"/>
              <a:buChar char="•"/>
            </a:pPr>
            <a:endParaRPr sz="5200">
              <a:latin typeface="Calibri"/>
              <a:cs typeface="Calibri"/>
            </a:endParaRPr>
          </a:p>
          <a:p>
            <a:pPr marL="382270" indent="-369570">
              <a:lnSpc>
                <a:spcPct val="100000"/>
              </a:lnSpc>
              <a:buFont typeface="Arial"/>
              <a:buChar char="•"/>
              <a:tabLst>
                <a:tab pos="382270" algn="l"/>
              </a:tabLst>
            </a:pPr>
            <a:r>
              <a:rPr dirty="0" sz="5200">
                <a:solidFill>
                  <a:srgbClr val="595959"/>
                </a:solidFill>
                <a:latin typeface="Calibri"/>
                <a:cs typeface="Calibri"/>
              </a:rPr>
              <a:t>Add</a:t>
            </a:r>
            <a:r>
              <a:rPr dirty="0" sz="5200" spc="-18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5200" spc="-25">
                <a:solidFill>
                  <a:srgbClr val="595959"/>
                </a:solidFill>
                <a:latin typeface="Calibri"/>
                <a:cs typeface="Calibri"/>
              </a:rPr>
              <a:t>corporate</a:t>
            </a:r>
            <a:r>
              <a:rPr dirty="0" sz="5200" spc="-2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5200" spc="-10">
                <a:solidFill>
                  <a:srgbClr val="595959"/>
                </a:solidFill>
                <a:latin typeface="Calibri"/>
                <a:cs typeface="Calibri"/>
              </a:rPr>
              <a:t>branding</a:t>
            </a:r>
            <a:endParaRPr sz="5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90980">
              <a:lnSpc>
                <a:spcPct val="100000"/>
              </a:lnSpc>
              <a:spcBef>
                <a:spcPts val="100"/>
              </a:spcBef>
            </a:pPr>
            <a:r>
              <a:rPr dirty="0"/>
              <a:t>Before</a:t>
            </a:r>
            <a:r>
              <a:rPr dirty="0" spc="-114"/>
              <a:t> </a:t>
            </a:r>
            <a:r>
              <a:rPr dirty="0" spc="-10"/>
              <a:t>SendGrid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06" y="1856503"/>
            <a:ext cx="9270752" cy="356735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57425">
              <a:lnSpc>
                <a:spcPct val="100000"/>
              </a:lnSpc>
              <a:spcBef>
                <a:spcPts val="100"/>
              </a:spcBef>
            </a:pPr>
            <a:r>
              <a:rPr dirty="0"/>
              <a:t>Apply </a:t>
            </a:r>
            <a:r>
              <a:rPr dirty="0" spc="-10"/>
              <a:t>Filters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4732" y="1586654"/>
            <a:ext cx="6159500" cy="481467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956" y="1545589"/>
            <a:ext cx="8441936" cy="603630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113155">
              <a:lnSpc>
                <a:spcPct val="100000"/>
              </a:lnSpc>
              <a:spcBef>
                <a:spcPts val="100"/>
              </a:spcBef>
            </a:pPr>
            <a:r>
              <a:rPr dirty="0"/>
              <a:t>After</a:t>
            </a:r>
            <a:r>
              <a:rPr dirty="0" spc="-65"/>
              <a:t> </a:t>
            </a:r>
            <a:r>
              <a:rPr dirty="0" spc="-10"/>
              <a:t>Enhancement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969" y="5411075"/>
            <a:ext cx="1416799" cy="2088697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2493217" y="4740148"/>
            <a:ext cx="1668780" cy="607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7804">
              <a:lnSpc>
                <a:spcPct val="100000"/>
              </a:lnSpc>
              <a:spcBef>
                <a:spcPts val="100"/>
              </a:spcBef>
            </a:pPr>
            <a:r>
              <a:rPr dirty="0" sz="1900" spc="-10" b="1">
                <a:latin typeface="Arial"/>
                <a:cs typeface="Arial"/>
              </a:rPr>
              <a:t>Marketing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900">
                <a:latin typeface="Arial"/>
                <a:cs typeface="Arial"/>
              </a:rPr>
              <a:t>100</a:t>
            </a:r>
            <a:r>
              <a:rPr dirty="0" sz="1900" spc="3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million/day</a:t>
            </a:r>
            <a:endParaRPr sz="1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76450">
              <a:lnSpc>
                <a:spcPct val="100000"/>
              </a:lnSpc>
              <a:spcBef>
                <a:spcPts val="100"/>
              </a:spcBef>
            </a:pPr>
            <a:r>
              <a:rPr dirty="0"/>
              <a:t>Market</a:t>
            </a:r>
            <a:r>
              <a:rPr dirty="0" spc="-114"/>
              <a:t> </a:t>
            </a:r>
            <a:r>
              <a:rPr dirty="0" spc="-20"/>
              <a:t>Size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72559" y="2572377"/>
            <a:ext cx="1262697" cy="5009522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208412" y="1829308"/>
            <a:ext cx="1668780" cy="607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dirty="0" sz="1900" spc="-10" b="1">
                <a:latin typeface="Arial"/>
                <a:cs typeface="Arial"/>
              </a:rPr>
              <a:t>Transactional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900">
                <a:latin typeface="Arial"/>
                <a:cs typeface="Arial"/>
              </a:rPr>
              <a:t>600</a:t>
            </a:r>
            <a:r>
              <a:rPr dirty="0" sz="1900" spc="3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million/day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466" y="1747484"/>
            <a:ext cx="8705425" cy="583441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dirty="0"/>
              <a:t>Many</a:t>
            </a:r>
            <a:r>
              <a:rPr dirty="0" spc="-10"/>
              <a:t> </a:t>
            </a:r>
            <a:r>
              <a:rPr dirty="0"/>
              <a:t>others</a:t>
            </a:r>
            <a:r>
              <a:rPr dirty="0" spc="-40"/>
              <a:t> </a:t>
            </a:r>
            <a:r>
              <a:rPr dirty="0"/>
              <a:t>sending</a:t>
            </a:r>
            <a:r>
              <a:rPr dirty="0" spc="-10"/>
              <a:t> emails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97929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Competition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666622" y="1689312"/>
          <a:ext cx="9124315" cy="4863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58695"/>
                <a:gridCol w="2258695"/>
                <a:gridCol w="2258694"/>
                <a:gridCol w="2258695"/>
              </a:tblGrid>
              <a:tr h="540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Services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Products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65913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SendGrid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54038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Deliverability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  <a:tr h="54038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Scalability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</a:tr>
              <a:tr h="54038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Metrics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  <a:tr h="54038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Enhancement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900">
                          <a:latin typeface="Calibri"/>
                          <a:cs typeface="Calibri"/>
                        </a:rPr>
                        <a:t>--</a:t>
                      </a:r>
                      <a:r>
                        <a:rPr dirty="0" sz="1900" spc="-50">
                          <a:latin typeface="Calibri"/>
                          <a:cs typeface="Calibri"/>
                        </a:rPr>
                        <a:t>-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</a:tr>
              <a:tr h="54038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Integration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  <a:tr h="54038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Administration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</a:tr>
              <a:tr h="54038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Affordability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  <a:tr h="54038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Flexibility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900">
                          <a:latin typeface="Calibri"/>
                          <a:cs typeface="Calibri"/>
                        </a:rPr>
                        <a:t>--</a:t>
                      </a:r>
                      <a:r>
                        <a:rPr dirty="0" sz="1900" spc="-50">
                          <a:latin typeface="Calibri"/>
                          <a:cs typeface="Calibri"/>
                        </a:rPr>
                        <a:t>-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900">
                          <a:latin typeface="Calibri"/>
                          <a:cs typeface="Calibri"/>
                        </a:rPr>
                        <a:t>--</a:t>
                      </a:r>
                      <a:r>
                        <a:rPr dirty="0" sz="1900" spc="-50">
                          <a:latin typeface="Calibri"/>
                          <a:cs typeface="Calibri"/>
                        </a:rPr>
                        <a:t>-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grpSp>
        <p:nvGrpSpPr>
          <p:cNvPr id="4" name="object 4" descr=""/>
          <p:cNvGrpSpPr/>
          <p:nvPr/>
        </p:nvGrpSpPr>
        <p:grpSpPr>
          <a:xfrm>
            <a:off x="3862719" y="2312105"/>
            <a:ext cx="356235" cy="356235"/>
            <a:chOff x="3862719" y="2312105"/>
            <a:chExt cx="356235" cy="35623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6407" y="2325793"/>
              <a:ext cx="328505" cy="328506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876407" y="2325792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29" h="328930">
                  <a:moveTo>
                    <a:pt x="0" y="164253"/>
                  </a:moveTo>
                  <a:lnTo>
                    <a:pt x="5867" y="120588"/>
                  </a:lnTo>
                  <a:lnTo>
                    <a:pt x="22425" y="81351"/>
                  </a:lnTo>
                  <a:lnTo>
                    <a:pt x="48108" y="48108"/>
                  </a:lnTo>
                  <a:lnTo>
                    <a:pt x="81351" y="22425"/>
                  </a:lnTo>
                  <a:lnTo>
                    <a:pt x="120588" y="5867"/>
                  </a:lnTo>
                  <a:lnTo>
                    <a:pt x="164253" y="0"/>
                  </a:lnTo>
                  <a:lnTo>
                    <a:pt x="207918" y="5867"/>
                  </a:lnTo>
                  <a:lnTo>
                    <a:pt x="247155" y="22425"/>
                  </a:lnTo>
                  <a:lnTo>
                    <a:pt x="280397" y="48108"/>
                  </a:lnTo>
                  <a:lnTo>
                    <a:pt x="306081" y="81351"/>
                  </a:lnTo>
                  <a:lnTo>
                    <a:pt x="322639" y="120588"/>
                  </a:lnTo>
                  <a:lnTo>
                    <a:pt x="328506" y="164253"/>
                  </a:lnTo>
                  <a:lnTo>
                    <a:pt x="322639" y="207918"/>
                  </a:lnTo>
                  <a:lnTo>
                    <a:pt x="306081" y="247155"/>
                  </a:lnTo>
                  <a:lnTo>
                    <a:pt x="280397" y="280397"/>
                  </a:lnTo>
                  <a:lnTo>
                    <a:pt x="247155" y="306081"/>
                  </a:lnTo>
                  <a:lnTo>
                    <a:pt x="207918" y="322639"/>
                  </a:lnTo>
                  <a:lnTo>
                    <a:pt x="164253" y="328506"/>
                  </a:lnTo>
                  <a:lnTo>
                    <a:pt x="120588" y="322639"/>
                  </a:lnTo>
                  <a:lnTo>
                    <a:pt x="81351" y="306081"/>
                  </a:lnTo>
                  <a:lnTo>
                    <a:pt x="48108" y="280397"/>
                  </a:lnTo>
                  <a:lnTo>
                    <a:pt x="22425" y="247155"/>
                  </a:lnTo>
                  <a:lnTo>
                    <a:pt x="5867" y="207918"/>
                  </a:lnTo>
                  <a:lnTo>
                    <a:pt x="0" y="164253"/>
                  </a:lnTo>
                  <a:close/>
                </a:path>
              </a:pathLst>
            </a:custGeom>
            <a:ln w="27375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6162264" y="3379752"/>
            <a:ext cx="356235" cy="356235"/>
            <a:chOff x="6162264" y="3379752"/>
            <a:chExt cx="356235" cy="356235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5952" y="3393440"/>
              <a:ext cx="328506" cy="32850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6175952" y="3393440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29" h="328929">
                  <a:moveTo>
                    <a:pt x="0" y="164253"/>
                  </a:moveTo>
                  <a:lnTo>
                    <a:pt x="5867" y="120588"/>
                  </a:lnTo>
                  <a:lnTo>
                    <a:pt x="22425" y="81351"/>
                  </a:lnTo>
                  <a:lnTo>
                    <a:pt x="48108" y="48108"/>
                  </a:lnTo>
                  <a:lnTo>
                    <a:pt x="81351" y="22425"/>
                  </a:lnTo>
                  <a:lnTo>
                    <a:pt x="120588" y="5867"/>
                  </a:lnTo>
                  <a:lnTo>
                    <a:pt x="164253" y="0"/>
                  </a:lnTo>
                  <a:lnTo>
                    <a:pt x="207918" y="5867"/>
                  </a:lnTo>
                  <a:lnTo>
                    <a:pt x="247155" y="22425"/>
                  </a:lnTo>
                  <a:lnTo>
                    <a:pt x="280397" y="48108"/>
                  </a:lnTo>
                  <a:lnTo>
                    <a:pt x="306081" y="81351"/>
                  </a:lnTo>
                  <a:lnTo>
                    <a:pt x="322639" y="120588"/>
                  </a:lnTo>
                  <a:lnTo>
                    <a:pt x="328506" y="164253"/>
                  </a:lnTo>
                  <a:lnTo>
                    <a:pt x="322639" y="207918"/>
                  </a:lnTo>
                  <a:lnTo>
                    <a:pt x="306081" y="247155"/>
                  </a:lnTo>
                  <a:lnTo>
                    <a:pt x="280397" y="280397"/>
                  </a:lnTo>
                  <a:lnTo>
                    <a:pt x="247155" y="306081"/>
                  </a:lnTo>
                  <a:lnTo>
                    <a:pt x="207918" y="322639"/>
                  </a:lnTo>
                  <a:lnTo>
                    <a:pt x="164253" y="328506"/>
                  </a:lnTo>
                  <a:lnTo>
                    <a:pt x="120588" y="322639"/>
                  </a:lnTo>
                  <a:lnTo>
                    <a:pt x="81351" y="306081"/>
                  </a:lnTo>
                  <a:lnTo>
                    <a:pt x="48108" y="280397"/>
                  </a:lnTo>
                  <a:lnTo>
                    <a:pt x="22425" y="247155"/>
                  </a:lnTo>
                  <a:lnTo>
                    <a:pt x="5867" y="207918"/>
                  </a:lnTo>
                  <a:lnTo>
                    <a:pt x="0" y="164253"/>
                  </a:lnTo>
                  <a:close/>
                </a:path>
              </a:pathLst>
            </a:custGeom>
            <a:ln w="27375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8379685" y="2312105"/>
            <a:ext cx="356235" cy="356235"/>
            <a:chOff x="8379685" y="2312105"/>
            <a:chExt cx="356235" cy="356235"/>
          </a:xfrm>
        </p:grpSpPr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93373" y="2325793"/>
              <a:ext cx="328506" cy="328506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8393373" y="2325792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29" h="328930">
                  <a:moveTo>
                    <a:pt x="0" y="164253"/>
                  </a:moveTo>
                  <a:lnTo>
                    <a:pt x="5867" y="120588"/>
                  </a:lnTo>
                  <a:lnTo>
                    <a:pt x="22425" y="81351"/>
                  </a:lnTo>
                  <a:lnTo>
                    <a:pt x="48108" y="48108"/>
                  </a:lnTo>
                  <a:lnTo>
                    <a:pt x="81351" y="22425"/>
                  </a:lnTo>
                  <a:lnTo>
                    <a:pt x="120588" y="5867"/>
                  </a:lnTo>
                  <a:lnTo>
                    <a:pt x="164253" y="0"/>
                  </a:lnTo>
                  <a:lnTo>
                    <a:pt x="207918" y="5867"/>
                  </a:lnTo>
                  <a:lnTo>
                    <a:pt x="247155" y="22425"/>
                  </a:lnTo>
                  <a:lnTo>
                    <a:pt x="280397" y="48108"/>
                  </a:lnTo>
                  <a:lnTo>
                    <a:pt x="306081" y="81351"/>
                  </a:lnTo>
                  <a:lnTo>
                    <a:pt x="322639" y="120588"/>
                  </a:lnTo>
                  <a:lnTo>
                    <a:pt x="328506" y="164253"/>
                  </a:lnTo>
                  <a:lnTo>
                    <a:pt x="322639" y="207918"/>
                  </a:lnTo>
                  <a:lnTo>
                    <a:pt x="306081" y="247155"/>
                  </a:lnTo>
                  <a:lnTo>
                    <a:pt x="280397" y="280397"/>
                  </a:lnTo>
                  <a:lnTo>
                    <a:pt x="247155" y="306081"/>
                  </a:lnTo>
                  <a:lnTo>
                    <a:pt x="207918" y="322639"/>
                  </a:lnTo>
                  <a:lnTo>
                    <a:pt x="164253" y="328506"/>
                  </a:lnTo>
                  <a:lnTo>
                    <a:pt x="120588" y="322639"/>
                  </a:lnTo>
                  <a:lnTo>
                    <a:pt x="81351" y="306081"/>
                  </a:lnTo>
                  <a:lnTo>
                    <a:pt x="48108" y="280397"/>
                  </a:lnTo>
                  <a:lnTo>
                    <a:pt x="22425" y="247155"/>
                  </a:lnTo>
                  <a:lnTo>
                    <a:pt x="5867" y="207918"/>
                  </a:lnTo>
                  <a:lnTo>
                    <a:pt x="0" y="164253"/>
                  </a:lnTo>
                  <a:close/>
                </a:path>
              </a:pathLst>
            </a:custGeom>
            <a:ln w="27375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8379685" y="2886992"/>
            <a:ext cx="356235" cy="356235"/>
            <a:chOff x="8379685" y="2886992"/>
            <a:chExt cx="356235" cy="356235"/>
          </a:xfrm>
        </p:grpSpPr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93373" y="2900680"/>
              <a:ext cx="328506" cy="328506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8393373" y="2900679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29" h="328930">
                  <a:moveTo>
                    <a:pt x="0" y="164253"/>
                  </a:moveTo>
                  <a:lnTo>
                    <a:pt x="5867" y="120588"/>
                  </a:lnTo>
                  <a:lnTo>
                    <a:pt x="22425" y="81351"/>
                  </a:lnTo>
                  <a:lnTo>
                    <a:pt x="48108" y="48108"/>
                  </a:lnTo>
                  <a:lnTo>
                    <a:pt x="81351" y="22425"/>
                  </a:lnTo>
                  <a:lnTo>
                    <a:pt x="120588" y="5867"/>
                  </a:lnTo>
                  <a:lnTo>
                    <a:pt x="164253" y="0"/>
                  </a:lnTo>
                  <a:lnTo>
                    <a:pt x="207918" y="5867"/>
                  </a:lnTo>
                  <a:lnTo>
                    <a:pt x="247155" y="22425"/>
                  </a:lnTo>
                  <a:lnTo>
                    <a:pt x="280397" y="48108"/>
                  </a:lnTo>
                  <a:lnTo>
                    <a:pt x="306081" y="81351"/>
                  </a:lnTo>
                  <a:lnTo>
                    <a:pt x="322639" y="120588"/>
                  </a:lnTo>
                  <a:lnTo>
                    <a:pt x="328506" y="164253"/>
                  </a:lnTo>
                  <a:lnTo>
                    <a:pt x="322639" y="207918"/>
                  </a:lnTo>
                  <a:lnTo>
                    <a:pt x="306081" y="247155"/>
                  </a:lnTo>
                  <a:lnTo>
                    <a:pt x="280397" y="280397"/>
                  </a:lnTo>
                  <a:lnTo>
                    <a:pt x="247155" y="306081"/>
                  </a:lnTo>
                  <a:lnTo>
                    <a:pt x="207918" y="322639"/>
                  </a:lnTo>
                  <a:lnTo>
                    <a:pt x="164253" y="328506"/>
                  </a:lnTo>
                  <a:lnTo>
                    <a:pt x="120588" y="322639"/>
                  </a:lnTo>
                  <a:lnTo>
                    <a:pt x="81351" y="306081"/>
                  </a:lnTo>
                  <a:lnTo>
                    <a:pt x="48108" y="280397"/>
                  </a:lnTo>
                  <a:lnTo>
                    <a:pt x="22425" y="247155"/>
                  </a:lnTo>
                  <a:lnTo>
                    <a:pt x="5867" y="207918"/>
                  </a:lnTo>
                  <a:lnTo>
                    <a:pt x="0" y="164253"/>
                  </a:lnTo>
                  <a:close/>
                </a:path>
              </a:pathLst>
            </a:custGeom>
            <a:ln w="27375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8379685" y="3379752"/>
            <a:ext cx="356235" cy="356235"/>
            <a:chOff x="8379685" y="3379752"/>
            <a:chExt cx="356235" cy="356235"/>
          </a:xfrm>
        </p:grpSpPr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93373" y="3393440"/>
              <a:ext cx="328506" cy="328506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8393373" y="3393440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29" h="328929">
                  <a:moveTo>
                    <a:pt x="0" y="164253"/>
                  </a:moveTo>
                  <a:lnTo>
                    <a:pt x="5867" y="120588"/>
                  </a:lnTo>
                  <a:lnTo>
                    <a:pt x="22425" y="81351"/>
                  </a:lnTo>
                  <a:lnTo>
                    <a:pt x="48108" y="48108"/>
                  </a:lnTo>
                  <a:lnTo>
                    <a:pt x="81351" y="22425"/>
                  </a:lnTo>
                  <a:lnTo>
                    <a:pt x="120588" y="5867"/>
                  </a:lnTo>
                  <a:lnTo>
                    <a:pt x="164253" y="0"/>
                  </a:lnTo>
                  <a:lnTo>
                    <a:pt x="207918" y="5867"/>
                  </a:lnTo>
                  <a:lnTo>
                    <a:pt x="247155" y="22425"/>
                  </a:lnTo>
                  <a:lnTo>
                    <a:pt x="280397" y="48108"/>
                  </a:lnTo>
                  <a:lnTo>
                    <a:pt x="306081" y="81351"/>
                  </a:lnTo>
                  <a:lnTo>
                    <a:pt x="322639" y="120588"/>
                  </a:lnTo>
                  <a:lnTo>
                    <a:pt x="328506" y="164253"/>
                  </a:lnTo>
                  <a:lnTo>
                    <a:pt x="322639" y="207918"/>
                  </a:lnTo>
                  <a:lnTo>
                    <a:pt x="306081" y="247155"/>
                  </a:lnTo>
                  <a:lnTo>
                    <a:pt x="280397" y="280397"/>
                  </a:lnTo>
                  <a:lnTo>
                    <a:pt x="247155" y="306081"/>
                  </a:lnTo>
                  <a:lnTo>
                    <a:pt x="207918" y="322639"/>
                  </a:lnTo>
                  <a:lnTo>
                    <a:pt x="164253" y="328506"/>
                  </a:lnTo>
                  <a:lnTo>
                    <a:pt x="120588" y="322639"/>
                  </a:lnTo>
                  <a:lnTo>
                    <a:pt x="81351" y="306081"/>
                  </a:lnTo>
                  <a:lnTo>
                    <a:pt x="48108" y="280397"/>
                  </a:lnTo>
                  <a:lnTo>
                    <a:pt x="22425" y="247155"/>
                  </a:lnTo>
                  <a:lnTo>
                    <a:pt x="5867" y="207918"/>
                  </a:lnTo>
                  <a:lnTo>
                    <a:pt x="0" y="164253"/>
                  </a:lnTo>
                  <a:close/>
                </a:path>
              </a:pathLst>
            </a:custGeom>
            <a:ln w="27375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8379685" y="3954639"/>
            <a:ext cx="356235" cy="356235"/>
            <a:chOff x="8379685" y="3954639"/>
            <a:chExt cx="356235" cy="356235"/>
          </a:xfrm>
        </p:grpSpPr>
        <p:pic>
          <p:nvPicPr>
            <p:cNvPr id="20" name="object 2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93373" y="3968327"/>
              <a:ext cx="328506" cy="328505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8393373" y="3968327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29" h="328929">
                  <a:moveTo>
                    <a:pt x="0" y="164253"/>
                  </a:moveTo>
                  <a:lnTo>
                    <a:pt x="5867" y="120588"/>
                  </a:lnTo>
                  <a:lnTo>
                    <a:pt x="22425" y="81351"/>
                  </a:lnTo>
                  <a:lnTo>
                    <a:pt x="48108" y="48108"/>
                  </a:lnTo>
                  <a:lnTo>
                    <a:pt x="81351" y="22425"/>
                  </a:lnTo>
                  <a:lnTo>
                    <a:pt x="120588" y="5867"/>
                  </a:lnTo>
                  <a:lnTo>
                    <a:pt x="164253" y="0"/>
                  </a:lnTo>
                  <a:lnTo>
                    <a:pt x="207918" y="5867"/>
                  </a:lnTo>
                  <a:lnTo>
                    <a:pt x="247155" y="22425"/>
                  </a:lnTo>
                  <a:lnTo>
                    <a:pt x="280397" y="48108"/>
                  </a:lnTo>
                  <a:lnTo>
                    <a:pt x="306081" y="81351"/>
                  </a:lnTo>
                  <a:lnTo>
                    <a:pt x="322639" y="120588"/>
                  </a:lnTo>
                  <a:lnTo>
                    <a:pt x="328506" y="164253"/>
                  </a:lnTo>
                  <a:lnTo>
                    <a:pt x="322639" y="207918"/>
                  </a:lnTo>
                  <a:lnTo>
                    <a:pt x="306081" y="247155"/>
                  </a:lnTo>
                  <a:lnTo>
                    <a:pt x="280397" y="280397"/>
                  </a:lnTo>
                  <a:lnTo>
                    <a:pt x="247155" y="306081"/>
                  </a:lnTo>
                  <a:lnTo>
                    <a:pt x="207918" y="322639"/>
                  </a:lnTo>
                  <a:lnTo>
                    <a:pt x="164253" y="328506"/>
                  </a:lnTo>
                  <a:lnTo>
                    <a:pt x="120588" y="322639"/>
                  </a:lnTo>
                  <a:lnTo>
                    <a:pt x="81351" y="306081"/>
                  </a:lnTo>
                  <a:lnTo>
                    <a:pt x="48108" y="280397"/>
                  </a:lnTo>
                  <a:lnTo>
                    <a:pt x="22425" y="247155"/>
                  </a:lnTo>
                  <a:lnTo>
                    <a:pt x="5867" y="207918"/>
                  </a:lnTo>
                  <a:lnTo>
                    <a:pt x="0" y="164253"/>
                  </a:lnTo>
                  <a:close/>
                </a:path>
              </a:pathLst>
            </a:custGeom>
            <a:ln w="27375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 descr=""/>
          <p:cNvGrpSpPr/>
          <p:nvPr/>
        </p:nvGrpSpPr>
        <p:grpSpPr>
          <a:xfrm>
            <a:off x="8379685" y="4529525"/>
            <a:ext cx="356235" cy="356235"/>
            <a:chOff x="8379685" y="4529525"/>
            <a:chExt cx="356235" cy="356235"/>
          </a:xfrm>
        </p:grpSpPr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93373" y="4543213"/>
              <a:ext cx="328506" cy="328506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8393373" y="4543212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29" h="328929">
                  <a:moveTo>
                    <a:pt x="0" y="164253"/>
                  </a:moveTo>
                  <a:lnTo>
                    <a:pt x="5867" y="120588"/>
                  </a:lnTo>
                  <a:lnTo>
                    <a:pt x="22425" y="81351"/>
                  </a:lnTo>
                  <a:lnTo>
                    <a:pt x="48108" y="48108"/>
                  </a:lnTo>
                  <a:lnTo>
                    <a:pt x="81351" y="22425"/>
                  </a:lnTo>
                  <a:lnTo>
                    <a:pt x="120588" y="5867"/>
                  </a:lnTo>
                  <a:lnTo>
                    <a:pt x="164253" y="0"/>
                  </a:lnTo>
                  <a:lnTo>
                    <a:pt x="207918" y="5867"/>
                  </a:lnTo>
                  <a:lnTo>
                    <a:pt x="247155" y="22425"/>
                  </a:lnTo>
                  <a:lnTo>
                    <a:pt x="280397" y="48108"/>
                  </a:lnTo>
                  <a:lnTo>
                    <a:pt x="306081" y="81351"/>
                  </a:lnTo>
                  <a:lnTo>
                    <a:pt x="322639" y="120588"/>
                  </a:lnTo>
                  <a:lnTo>
                    <a:pt x="328506" y="164253"/>
                  </a:lnTo>
                  <a:lnTo>
                    <a:pt x="322639" y="207918"/>
                  </a:lnTo>
                  <a:lnTo>
                    <a:pt x="306081" y="247155"/>
                  </a:lnTo>
                  <a:lnTo>
                    <a:pt x="280397" y="280397"/>
                  </a:lnTo>
                  <a:lnTo>
                    <a:pt x="247155" y="306081"/>
                  </a:lnTo>
                  <a:lnTo>
                    <a:pt x="207918" y="322639"/>
                  </a:lnTo>
                  <a:lnTo>
                    <a:pt x="164253" y="328506"/>
                  </a:lnTo>
                  <a:lnTo>
                    <a:pt x="120588" y="322639"/>
                  </a:lnTo>
                  <a:lnTo>
                    <a:pt x="81351" y="306081"/>
                  </a:lnTo>
                  <a:lnTo>
                    <a:pt x="48108" y="280397"/>
                  </a:lnTo>
                  <a:lnTo>
                    <a:pt x="22425" y="247155"/>
                  </a:lnTo>
                  <a:lnTo>
                    <a:pt x="5867" y="207918"/>
                  </a:lnTo>
                  <a:lnTo>
                    <a:pt x="0" y="164253"/>
                  </a:lnTo>
                  <a:close/>
                </a:path>
              </a:pathLst>
            </a:custGeom>
            <a:ln w="27375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 descr=""/>
          <p:cNvGrpSpPr/>
          <p:nvPr/>
        </p:nvGrpSpPr>
        <p:grpSpPr>
          <a:xfrm>
            <a:off x="8379685" y="5022285"/>
            <a:ext cx="356235" cy="356235"/>
            <a:chOff x="8379685" y="5022285"/>
            <a:chExt cx="356235" cy="356235"/>
          </a:xfrm>
        </p:grpSpPr>
        <p:pic>
          <p:nvPicPr>
            <p:cNvPr id="26" name="object 2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93373" y="5035973"/>
              <a:ext cx="328506" cy="328506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8393373" y="5035973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29" h="328929">
                  <a:moveTo>
                    <a:pt x="0" y="164253"/>
                  </a:moveTo>
                  <a:lnTo>
                    <a:pt x="5867" y="120588"/>
                  </a:lnTo>
                  <a:lnTo>
                    <a:pt x="22425" y="81351"/>
                  </a:lnTo>
                  <a:lnTo>
                    <a:pt x="48108" y="48108"/>
                  </a:lnTo>
                  <a:lnTo>
                    <a:pt x="81351" y="22425"/>
                  </a:lnTo>
                  <a:lnTo>
                    <a:pt x="120588" y="5867"/>
                  </a:lnTo>
                  <a:lnTo>
                    <a:pt x="164253" y="0"/>
                  </a:lnTo>
                  <a:lnTo>
                    <a:pt x="207918" y="5867"/>
                  </a:lnTo>
                  <a:lnTo>
                    <a:pt x="247155" y="22425"/>
                  </a:lnTo>
                  <a:lnTo>
                    <a:pt x="280397" y="48108"/>
                  </a:lnTo>
                  <a:lnTo>
                    <a:pt x="306081" y="81351"/>
                  </a:lnTo>
                  <a:lnTo>
                    <a:pt x="322639" y="120588"/>
                  </a:lnTo>
                  <a:lnTo>
                    <a:pt x="328506" y="164253"/>
                  </a:lnTo>
                  <a:lnTo>
                    <a:pt x="322639" y="207918"/>
                  </a:lnTo>
                  <a:lnTo>
                    <a:pt x="306081" y="247155"/>
                  </a:lnTo>
                  <a:lnTo>
                    <a:pt x="280397" y="280397"/>
                  </a:lnTo>
                  <a:lnTo>
                    <a:pt x="247155" y="306081"/>
                  </a:lnTo>
                  <a:lnTo>
                    <a:pt x="207918" y="322639"/>
                  </a:lnTo>
                  <a:lnTo>
                    <a:pt x="164253" y="328506"/>
                  </a:lnTo>
                  <a:lnTo>
                    <a:pt x="120588" y="322639"/>
                  </a:lnTo>
                  <a:lnTo>
                    <a:pt x="81351" y="306081"/>
                  </a:lnTo>
                  <a:lnTo>
                    <a:pt x="48108" y="280397"/>
                  </a:lnTo>
                  <a:lnTo>
                    <a:pt x="22425" y="247155"/>
                  </a:lnTo>
                  <a:lnTo>
                    <a:pt x="5867" y="207918"/>
                  </a:lnTo>
                  <a:lnTo>
                    <a:pt x="0" y="164253"/>
                  </a:lnTo>
                  <a:close/>
                </a:path>
              </a:pathLst>
            </a:custGeom>
            <a:ln w="27375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 descr=""/>
          <p:cNvGrpSpPr/>
          <p:nvPr/>
        </p:nvGrpSpPr>
        <p:grpSpPr>
          <a:xfrm>
            <a:off x="8379685" y="5597172"/>
            <a:ext cx="356235" cy="356235"/>
            <a:chOff x="8379685" y="5597172"/>
            <a:chExt cx="356235" cy="356235"/>
          </a:xfrm>
        </p:grpSpPr>
        <p:pic>
          <p:nvPicPr>
            <p:cNvPr id="29" name="object 2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93373" y="5610860"/>
              <a:ext cx="328506" cy="328506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8393373" y="5610860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29" h="328929">
                  <a:moveTo>
                    <a:pt x="0" y="164253"/>
                  </a:moveTo>
                  <a:lnTo>
                    <a:pt x="5867" y="120588"/>
                  </a:lnTo>
                  <a:lnTo>
                    <a:pt x="22425" y="81351"/>
                  </a:lnTo>
                  <a:lnTo>
                    <a:pt x="48108" y="48108"/>
                  </a:lnTo>
                  <a:lnTo>
                    <a:pt x="81351" y="22425"/>
                  </a:lnTo>
                  <a:lnTo>
                    <a:pt x="120588" y="5867"/>
                  </a:lnTo>
                  <a:lnTo>
                    <a:pt x="164253" y="0"/>
                  </a:lnTo>
                  <a:lnTo>
                    <a:pt x="207918" y="5867"/>
                  </a:lnTo>
                  <a:lnTo>
                    <a:pt x="247155" y="22425"/>
                  </a:lnTo>
                  <a:lnTo>
                    <a:pt x="280397" y="48108"/>
                  </a:lnTo>
                  <a:lnTo>
                    <a:pt x="306081" y="81351"/>
                  </a:lnTo>
                  <a:lnTo>
                    <a:pt x="322639" y="120588"/>
                  </a:lnTo>
                  <a:lnTo>
                    <a:pt x="328506" y="164253"/>
                  </a:lnTo>
                  <a:lnTo>
                    <a:pt x="322639" y="207918"/>
                  </a:lnTo>
                  <a:lnTo>
                    <a:pt x="306081" y="247155"/>
                  </a:lnTo>
                  <a:lnTo>
                    <a:pt x="280397" y="280397"/>
                  </a:lnTo>
                  <a:lnTo>
                    <a:pt x="247155" y="306081"/>
                  </a:lnTo>
                  <a:lnTo>
                    <a:pt x="207918" y="322639"/>
                  </a:lnTo>
                  <a:lnTo>
                    <a:pt x="164253" y="328506"/>
                  </a:lnTo>
                  <a:lnTo>
                    <a:pt x="120588" y="322639"/>
                  </a:lnTo>
                  <a:lnTo>
                    <a:pt x="81351" y="306081"/>
                  </a:lnTo>
                  <a:lnTo>
                    <a:pt x="48108" y="280397"/>
                  </a:lnTo>
                  <a:lnTo>
                    <a:pt x="22425" y="247155"/>
                  </a:lnTo>
                  <a:lnTo>
                    <a:pt x="5867" y="207918"/>
                  </a:lnTo>
                  <a:lnTo>
                    <a:pt x="0" y="164253"/>
                  </a:lnTo>
                  <a:close/>
                </a:path>
              </a:pathLst>
            </a:custGeom>
            <a:ln w="27375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 descr=""/>
          <p:cNvGrpSpPr/>
          <p:nvPr/>
        </p:nvGrpSpPr>
        <p:grpSpPr>
          <a:xfrm>
            <a:off x="8379685" y="6089932"/>
            <a:ext cx="356235" cy="356235"/>
            <a:chOff x="8379685" y="6089932"/>
            <a:chExt cx="356235" cy="356235"/>
          </a:xfrm>
        </p:grpSpPr>
        <p:pic>
          <p:nvPicPr>
            <p:cNvPr id="32" name="object 3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93373" y="6103620"/>
              <a:ext cx="328506" cy="328506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8393373" y="6103619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29" h="328929">
                  <a:moveTo>
                    <a:pt x="0" y="164253"/>
                  </a:moveTo>
                  <a:lnTo>
                    <a:pt x="5867" y="120588"/>
                  </a:lnTo>
                  <a:lnTo>
                    <a:pt x="22425" y="81351"/>
                  </a:lnTo>
                  <a:lnTo>
                    <a:pt x="48108" y="48108"/>
                  </a:lnTo>
                  <a:lnTo>
                    <a:pt x="81351" y="22425"/>
                  </a:lnTo>
                  <a:lnTo>
                    <a:pt x="120588" y="5867"/>
                  </a:lnTo>
                  <a:lnTo>
                    <a:pt x="164253" y="0"/>
                  </a:lnTo>
                  <a:lnTo>
                    <a:pt x="207918" y="5867"/>
                  </a:lnTo>
                  <a:lnTo>
                    <a:pt x="247155" y="22425"/>
                  </a:lnTo>
                  <a:lnTo>
                    <a:pt x="280397" y="48108"/>
                  </a:lnTo>
                  <a:lnTo>
                    <a:pt x="306081" y="81351"/>
                  </a:lnTo>
                  <a:lnTo>
                    <a:pt x="322639" y="120588"/>
                  </a:lnTo>
                  <a:lnTo>
                    <a:pt x="328506" y="164253"/>
                  </a:lnTo>
                  <a:lnTo>
                    <a:pt x="322639" y="207918"/>
                  </a:lnTo>
                  <a:lnTo>
                    <a:pt x="306081" y="247155"/>
                  </a:lnTo>
                  <a:lnTo>
                    <a:pt x="280397" y="280397"/>
                  </a:lnTo>
                  <a:lnTo>
                    <a:pt x="247155" y="306081"/>
                  </a:lnTo>
                  <a:lnTo>
                    <a:pt x="207918" y="322639"/>
                  </a:lnTo>
                  <a:lnTo>
                    <a:pt x="164253" y="328506"/>
                  </a:lnTo>
                  <a:lnTo>
                    <a:pt x="120588" y="322639"/>
                  </a:lnTo>
                  <a:lnTo>
                    <a:pt x="81351" y="306081"/>
                  </a:lnTo>
                  <a:lnTo>
                    <a:pt x="48108" y="280397"/>
                  </a:lnTo>
                  <a:lnTo>
                    <a:pt x="22425" y="247155"/>
                  </a:lnTo>
                  <a:lnTo>
                    <a:pt x="5867" y="207918"/>
                  </a:lnTo>
                  <a:lnTo>
                    <a:pt x="0" y="164253"/>
                  </a:lnTo>
                  <a:close/>
                </a:path>
              </a:pathLst>
            </a:custGeom>
            <a:ln w="27375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 descr=""/>
          <p:cNvGrpSpPr/>
          <p:nvPr/>
        </p:nvGrpSpPr>
        <p:grpSpPr>
          <a:xfrm>
            <a:off x="6162264" y="2312105"/>
            <a:ext cx="356235" cy="356235"/>
            <a:chOff x="6162264" y="2312105"/>
            <a:chExt cx="356235" cy="356235"/>
          </a:xfrm>
        </p:grpSpPr>
        <p:pic>
          <p:nvPicPr>
            <p:cNvPr id="35" name="object 3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75952" y="2325793"/>
              <a:ext cx="328506" cy="328506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6175952" y="2325792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29" h="328930">
                  <a:moveTo>
                    <a:pt x="0" y="164253"/>
                  </a:moveTo>
                  <a:lnTo>
                    <a:pt x="5867" y="120588"/>
                  </a:lnTo>
                  <a:lnTo>
                    <a:pt x="22425" y="81351"/>
                  </a:lnTo>
                  <a:lnTo>
                    <a:pt x="48108" y="48108"/>
                  </a:lnTo>
                  <a:lnTo>
                    <a:pt x="81351" y="22425"/>
                  </a:lnTo>
                  <a:lnTo>
                    <a:pt x="120588" y="5867"/>
                  </a:lnTo>
                  <a:lnTo>
                    <a:pt x="164253" y="0"/>
                  </a:lnTo>
                  <a:lnTo>
                    <a:pt x="207918" y="5867"/>
                  </a:lnTo>
                  <a:lnTo>
                    <a:pt x="247155" y="22425"/>
                  </a:lnTo>
                  <a:lnTo>
                    <a:pt x="280397" y="48108"/>
                  </a:lnTo>
                  <a:lnTo>
                    <a:pt x="306081" y="81351"/>
                  </a:lnTo>
                  <a:lnTo>
                    <a:pt x="322639" y="120588"/>
                  </a:lnTo>
                  <a:lnTo>
                    <a:pt x="328506" y="164253"/>
                  </a:lnTo>
                  <a:lnTo>
                    <a:pt x="322639" y="207918"/>
                  </a:lnTo>
                  <a:lnTo>
                    <a:pt x="306081" y="247155"/>
                  </a:lnTo>
                  <a:lnTo>
                    <a:pt x="280397" y="280397"/>
                  </a:lnTo>
                  <a:lnTo>
                    <a:pt x="247155" y="306081"/>
                  </a:lnTo>
                  <a:lnTo>
                    <a:pt x="207918" y="322639"/>
                  </a:lnTo>
                  <a:lnTo>
                    <a:pt x="164253" y="328506"/>
                  </a:lnTo>
                  <a:lnTo>
                    <a:pt x="120588" y="322639"/>
                  </a:lnTo>
                  <a:lnTo>
                    <a:pt x="81351" y="306081"/>
                  </a:lnTo>
                  <a:lnTo>
                    <a:pt x="48108" y="280397"/>
                  </a:lnTo>
                  <a:lnTo>
                    <a:pt x="22425" y="247155"/>
                  </a:lnTo>
                  <a:lnTo>
                    <a:pt x="5867" y="207918"/>
                  </a:lnTo>
                  <a:lnTo>
                    <a:pt x="0" y="164253"/>
                  </a:lnTo>
                  <a:close/>
                </a:path>
              </a:pathLst>
            </a:custGeom>
            <a:ln w="27375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 descr=""/>
          <p:cNvGrpSpPr/>
          <p:nvPr/>
        </p:nvGrpSpPr>
        <p:grpSpPr>
          <a:xfrm>
            <a:off x="6162264" y="2886992"/>
            <a:ext cx="356235" cy="356235"/>
            <a:chOff x="6162264" y="2886992"/>
            <a:chExt cx="356235" cy="356235"/>
          </a:xfrm>
        </p:grpSpPr>
        <p:pic>
          <p:nvPicPr>
            <p:cNvPr id="38" name="object 3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75952" y="2900680"/>
              <a:ext cx="328506" cy="328506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6175952" y="2900679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29" h="328930">
                  <a:moveTo>
                    <a:pt x="0" y="164253"/>
                  </a:moveTo>
                  <a:lnTo>
                    <a:pt x="5867" y="120588"/>
                  </a:lnTo>
                  <a:lnTo>
                    <a:pt x="22425" y="81351"/>
                  </a:lnTo>
                  <a:lnTo>
                    <a:pt x="48108" y="48108"/>
                  </a:lnTo>
                  <a:lnTo>
                    <a:pt x="81351" y="22425"/>
                  </a:lnTo>
                  <a:lnTo>
                    <a:pt x="120588" y="5867"/>
                  </a:lnTo>
                  <a:lnTo>
                    <a:pt x="164253" y="0"/>
                  </a:lnTo>
                  <a:lnTo>
                    <a:pt x="207918" y="5867"/>
                  </a:lnTo>
                  <a:lnTo>
                    <a:pt x="247155" y="22425"/>
                  </a:lnTo>
                  <a:lnTo>
                    <a:pt x="280397" y="48108"/>
                  </a:lnTo>
                  <a:lnTo>
                    <a:pt x="306081" y="81351"/>
                  </a:lnTo>
                  <a:lnTo>
                    <a:pt x="322639" y="120588"/>
                  </a:lnTo>
                  <a:lnTo>
                    <a:pt x="328506" y="164253"/>
                  </a:lnTo>
                  <a:lnTo>
                    <a:pt x="322639" y="207918"/>
                  </a:lnTo>
                  <a:lnTo>
                    <a:pt x="306081" y="247155"/>
                  </a:lnTo>
                  <a:lnTo>
                    <a:pt x="280397" y="280397"/>
                  </a:lnTo>
                  <a:lnTo>
                    <a:pt x="247155" y="306081"/>
                  </a:lnTo>
                  <a:lnTo>
                    <a:pt x="207918" y="322639"/>
                  </a:lnTo>
                  <a:lnTo>
                    <a:pt x="164253" y="328506"/>
                  </a:lnTo>
                  <a:lnTo>
                    <a:pt x="120588" y="322639"/>
                  </a:lnTo>
                  <a:lnTo>
                    <a:pt x="81351" y="306081"/>
                  </a:lnTo>
                  <a:lnTo>
                    <a:pt x="48108" y="280397"/>
                  </a:lnTo>
                  <a:lnTo>
                    <a:pt x="22425" y="247155"/>
                  </a:lnTo>
                  <a:lnTo>
                    <a:pt x="5867" y="207918"/>
                  </a:lnTo>
                  <a:lnTo>
                    <a:pt x="0" y="164253"/>
                  </a:lnTo>
                  <a:close/>
                </a:path>
              </a:pathLst>
            </a:custGeom>
            <a:ln w="27375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 descr=""/>
          <p:cNvGrpSpPr/>
          <p:nvPr/>
        </p:nvGrpSpPr>
        <p:grpSpPr>
          <a:xfrm>
            <a:off x="6162264" y="5022285"/>
            <a:ext cx="356235" cy="356235"/>
            <a:chOff x="6162264" y="5022285"/>
            <a:chExt cx="356235" cy="356235"/>
          </a:xfrm>
        </p:grpSpPr>
        <p:pic>
          <p:nvPicPr>
            <p:cNvPr id="41" name="object 4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75952" y="5035973"/>
              <a:ext cx="328506" cy="328506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6175952" y="5035973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29" h="328929">
                  <a:moveTo>
                    <a:pt x="0" y="164253"/>
                  </a:moveTo>
                  <a:lnTo>
                    <a:pt x="5867" y="120588"/>
                  </a:lnTo>
                  <a:lnTo>
                    <a:pt x="22425" y="81351"/>
                  </a:lnTo>
                  <a:lnTo>
                    <a:pt x="48108" y="48108"/>
                  </a:lnTo>
                  <a:lnTo>
                    <a:pt x="81351" y="22425"/>
                  </a:lnTo>
                  <a:lnTo>
                    <a:pt x="120588" y="5867"/>
                  </a:lnTo>
                  <a:lnTo>
                    <a:pt x="164253" y="0"/>
                  </a:lnTo>
                  <a:lnTo>
                    <a:pt x="207918" y="5867"/>
                  </a:lnTo>
                  <a:lnTo>
                    <a:pt x="247155" y="22425"/>
                  </a:lnTo>
                  <a:lnTo>
                    <a:pt x="280397" y="48108"/>
                  </a:lnTo>
                  <a:lnTo>
                    <a:pt x="306081" y="81351"/>
                  </a:lnTo>
                  <a:lnTo>
                    <a:pt x="322639" y="120588"/>
                  </a:lnTo>
                  <a:lnTo>
                    <a:pt x="328506" y="164253"/>
                  </a:lnTo>
                  <a:lnTo>
                    <a:pt x="322639" y="207918"/>
                  </a:lnTo>
                  <a:lnTo>
                    <a:pt x="306081" y="247155"/>
                  </a:lnTo>
                  <a:lnTo>
                    <a:pt x="280397" y="280397"/>
                  </a:lnTo>
                  <a:lnTo>
                    <a:pt x="247155" y="306081"/>
                  </a:lnTo>
                  <a:lnTo>
                    <a:pt x="207918" y="322639"/>
                  </a:lnTo>
                  <a:lnTo>
                    <a:pt x="164253" y="328506"/>
                  </a:lnTo>
                  <a:lnTo>
                    <a:pt x="120588" y="322639"/>
                  </a:lnTo>
                  <a:lnTo>
                    <a:pt x="81351" y="306081"/>
                  </a:lnTo>
                  <a:lnTo>
                    <a:pt x="48108" y="280397"/>
                  </a:lnTo>
                  <a:lnTo>
                    <a:pt x="22425" y="247155"/>
                  </a:lnTo>
                  <a:lnTo>
                    <a:pt x="5867" y="207918"/>
                  </a:lnTo>
                  <a:lnTo>
                    <a:pt x="0" y="164253"/>
                  </a:lnTo>
                  <a:close/>
                </a:path>
              </a:pathLst>
            </a:custGeom>
            <a:ln w="27375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" name="object 43" descr=""/>
          <p:cNvGrpSpPr/>
          <p:nvPr/>
        </p:nvGrpSpPr>
        <p:grpSpPr>
          <a:xfrm>
            <a:off x="6162264" y="5597172"/>
            <a:ext cx="356235" cy="356235"/>
            <a:chOff x="6162264" y="5597172"/>
            <a:chExt cx="356235" cy="356235"/>
          </a:xfrm>
        </p:grpSpPr>
        <p:pic>
          <p:nvPicPr>
            <p:cNvPr id="44" name="object 4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75952" y="5610860"/>
              <a:ext cx="328506" cy="328506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6175952" y="5610860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29" h="328929">
                  <a:moveTo>
                    <a:pt x="0" y="164253"/>
                  </a:moveTo>
                  <a:lnTo>
                    <a:pt x="5867" y="120588"/>
                  </a:lnTo>
                  <a:lnTo>
                    <a:pt x="22425" y="81351"/>
                  </a:lnTo>
                  <a:lnTo>
                    <a:pt x="48108" y="48108"/>
                  </a:lnTo>
                  <a:lnTo>
                    <a:pt x="81351" y="22425"/>
                  </a:lnTo>
                  <a:lnTo>
                    <a:pt x="120588" y="5867"/>
                  </a:lnTo>
                  <a:lnTo>
                    <a:pt x="164253" y="0"/>
                  </a:lnTo>
                  <a:lnTo>
                    <a:pt x="207918" y="5867"/>
                  </a:lnTo>
                  <a:lnTo>
                    <a:pt x="247155" y="22425"/>
                  </a:lnTo>
                  <a:lnTo>
                    <a:pt x="280397" y="48108"/>
                  </a:lnTo>
                  <a:lnTo>
                    <a:pt x="306081" y="81351"/>
                  </a:lnTo>
                  <a:lnTo>
                    <a:pt x="322639" y="120588"/>
                  </a:lnTo>
                  <a:lnTo>
                    <a:pt x="328506" y="164253"/>
                  </a:lnTo>
                  <a:lnTo>
                    <a:pt x="322639" y="207918"/>
                  </a:lnTo>
                  <a:lnTo>
                    <a:pt x="306081" y="247155"/>
                  </a:lnTo>
                  <a:lnTo>
                    <a:pt x="280397" y="280397"/>
                  </a:lnTo>
                  <a:lnTo>
                    <a:pt x="247155" y="306081"/>
                  </a:lnTo>
                  <a:lnTo>
                    <a:pt x="207918" y="322639"/>
                  </a:lnTo>
                  <a:lnTo>
                    <a:pt x="164253" y="328506"/>
                  </a:lnTo>
                  <a:lnTo>
                    <a:pt x="120588" y="322639"/>
                  </a:lnTo>
                  <a:lnTo>
                    <a:pt x="81351" y="306081"/>
                  </a:lnTo>
                  <a:lnTo>
                    <a:pt x="48108" y="280397"/>
                  </a:lnTo>
                  <a:lnTo>
                    <a:pt x="22425" y="247155"/>
                  </a:lnTo>
                  <a:lnTo>
                    <a:pt x="5867" y="207918"/>
                  </a:lnTo>
                  <a:lnTo>
                    <a:pt x="0" y="164253"/>
                  </a:lnTo>
                  <a:close/>
                </a:path>
              </a:pathLst>
            </a:custGeom>
            <a:ln w="27375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" name="object 46" descr=""/>
          <p:cNvGrpSpPr/>
          <p:nvPr/>
        </p:nvGrpSpPr>
        <p:grpSpPr>
          <a:xfrm>
            <a:off x="3862719" y="5597172"/>
            <a:ext cx="356235" cy="356235"/>
            <a:chOff x="3862719" y="5597172"/>
            <a:chExt cx="356235" cy="356235"/>
          </a:xfrm>
        </p:grpSpPr>
        <p:pic>
          <p:nvPicPr>
            <p:cNvPr id="47" name="object 4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76407" y="5610860"/>
              <a:ext cx="328505" cy="328506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3876407" y="5610860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29" h="328929">
                  <a:moveTo>
                    <a:pt x="0" y="164253"/>
                  </a:moveTo>
                  <a:lnTo>
                    <a:pt x="5867" y="120588"/>
                  </a:lnTo>
                  <a:lnTo>
                    <a:pt x="22425" y="81351"/>
                  </a:lnTo>
                  <a:lnTo>
                    <a:pt x="48108" y="48108"/>
                  </a:lnTo>
                  <a:lnTo>
                    <a:pt x="81351" y="22425"/>
                  </a:lnTo>
                  <a:lnTo>
                    <a:pt x="120588" y="5867"/>
                  </a:lnTo>
                  <a:lnTo>
                    <a:pt x="164253" y="0"/>
                  </a:lnTo>
                  <a:lnTo>
                    <a:pt x="207918" y="5867"/>
                  </a:lnTo>
                  <a:lnTo>
                    <a:pt x="247155" y="22425"/>
                  </a:lnTo>
                  <a:lnTo>
                    <a:pt x="280397" y="48108"/>
                  </a:lnTo>
                  <a:lnTo>
                    <a:pt x="306081" y="81351"/>
                  </a:lnTo>
                  <a:lnTo>
                    <a:pt x="322639" y="120588"/>
                  </a:lnTo>
                  <a:lnTo>
                    <a:pt x="328506" y="164253"/>
                  </a:lnTo>
                  <a:lnTo>
                    <a:pt x="322639" y="207918"/>
                  </a:lnTo>
                  <a:lnTo>
                    <a:pt x="306081" y="247155"/>
                  </a:lnTo>
                  <a:lnTo>
                    <a:pt x="280397" y="280397"/>
                  </a:lnTo>
                  <a:lnTo>
                    <a:pt x="247155" y="306081"/>
                  </a:lnTo>
                  <a:lnTo>
                    <a:pt x="207918" y="322639"/>
                  </a:lnTo>
                  <a:lnTo>
                    <a:pt x="164253" y="328506"/>
                  </a:lnTo>
                  <a:lnTo>
                    <a:pt x="120588" y="322639"/>
                  </a:lnTo>
                  <a:lnTo>
                    <a:pt x="81351" y="306081"/>
                  </a:lnTo>
                  <a:lnTo>
                    <a:pt x="48108" y="280397"/>
                  </a:lnTo>
                  <a:lnTo>
                    <a:pt x="22425" y="247155"/>
                  </a:lnTo>
                  <a:lnTo>
                    <a:pt x="5867" y="207918"/>
                  </a:lnTo>
                  <a:lnTo>
                    <a:pt x="0" y="164253"/>
                  </a:lnTo>
                  <a:close/>
                </a:path>
              </a:pathLst>
            </a:custGeom>
            <a:ln w="27375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" name="object 49" descr=""/>
          <p:cNvGrpSpPr/>
          <p:nvPr/>
        </p:nvGrpSpPr>
        <p:grpSpPr>
          <a:xfrm>
            <a:off x="3862719" y="4529525"/>
            <a:ext cx="356235" cy="356235"/>
            <a:chOff x="3862719" y="4529525"/>
            <a:chExt cx="356235" cy="356235"/>
          </a:xfrm>
        </p:grpSpPr>
        <p:pic>
          <p:nvPicPr>
            <p:cNvPr id="50" name="object 5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76407" y="4543213"/>
              <a:ext cx="328505" cy="328506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3876407" y="4543212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29" h="328929">
                  <a:moveTo>
                    <a:pt x="0" y="164253"/>
                  </a:moveTo>
                  <a:lnTo>
                    <a:pt x="5867" y="120588"/>
                  </a:lnTo>
                  <a:lnTo>
                    <a:pt x="22425" y="81351"/>
                  </a:lnTo>
                  <a:lnTo>
                    <a:pt x="48108" y="48108"/>
                  </a:lnTo>
                  <a:lnTo>
                    <a:pt x="81351" y="22425"/>
                  </a:lnTo>
                  <a:lnTo>
                    <a:pt x="120588" y="5867"/>
                  </a:lnTo>
                  <a:lnTo>
                    <a:pt x="164253" y="0"/>
                  </a:lnTo>
                  <a:lnTo>
                    <a:pt x="207918" y="5867"/>
                  </a:lnTo>
                  <a:lnTo>
                    <a:pt x="247155" y="22425"/>
                  </a:lnTo>
                  <a:lnTo>
                    <a:pt x="280397" y="48108"/>
                  </a:lnTo>
                  <a:lnTo>
                    <a:pt x="306081" y="81351"/>
                  </a:lnTo>
                  <a:lnTo>
                    <a:pt x="322639" y="120588"/>
                  </a:lnTo>
                  <a:lnTo>
                    <a:pt x="328506" y="164253"/>
                  </a:lnTo>
                  <a:lnTo>
                    <a:pt x="322639" y="207918"/>
                  </a:lnTo>
                  <a:lnTo>
                    <a:pt x="306081" y="247155"/>
                  </a:lnTo>
                  <a:lnTo>
                    <a:pt x="280397" y="280397"/>
                  </a:lnTo>
                  <a:lnTo>
                    <a:pt x="247155" y="306081"/>
                  </a:lnTo>
                  <a:lnTo>
                    <a:pt x="207918" y="322639"/>
                  </a:lnTo>
                  <a:lnTo>
                    <a:pt x="164253" y="328506"/>
                  </a:lnTo>
                  <a:lnTo>
                    <a:pt x="120588" y="322639"/>
                  </a:lnTo>
                  <a:lnTo>
                    <a:pt x="81351" y="306081"/>
                  </a:lnTo>
                  <a:lnTo>
                    <a:pt x="48108" y="280397"/>
                  </a:lnTo>
                  <a:lnTo>
                    <a:pt x="22425" y="247155"/>
                  </a:lnTo>
                  <a:lnTo>
                    <a:pt x="5867" y="207918"/>
                  </a:lnTo>
                  <a:lnTo>
                    <a:pt x="0" y="164253"/>
                  </a:lnTo>
                  <a:close/>
                </a:path>
              </a:pathLst>
            </a:custGeom>
            <a:ln w="27375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" name="object 52" descr=""/>
          <p:cNvGrpSpPr/>
          <p:nvPr/>
        </p:nvGrpSpPr>
        <p:grpSpPr>
          <a:xfrm>
            <a:off x="3862719" y="3379752"/>
            <a:ext cx="356235" cy="356235"/>
            <a:chOff x="3862719" y="3379752"/>
            <a:chExt cx="356235" cy="356235"/>
          </a:xfrm>
        </p:grpSpPr>
        <p:pic>
          <p:nvPicPr>
            <p:cNvPr id="53" name="object 5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76407" y="3393440"/>
              <a:ext cx="328505" cy="328506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3876407" y="3393440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29" h="328929">
                  <a:moveTo>
                    <a:pt x="0" y="164253"/>
                  </a:moveTo>
                  <a:lnTo>
                    <a:pt x="5867" y="120588"/>
                  </a:lnTo>
                  <a:lnTo>
                    <a:pt x="22425" y="81351"/>
                  </a:lnTo>
                  <a:lnTo>
                    <a:pt x="48108" y="48108"/>
                  </a:lnTo>
                  <a:lnTo>
                    <a:pt x="81351" y="22425"/>
                  </a:lnTo>
                  <a:lnTo>
                    <a:pt x="120588" y="5867"/>
                  </a:lnTo>
                  <a:lnTo>
                    <a:pt x="164253" y="0"/>
                  </a:lnTo>
                  <a:lnTo>
                    <a:pt x="207918" y="5867"/>
                  </a:lnTo>
                  <a:lnTo>
                    <a:pt x="247155" y="22425"/>
                  </a:lnTo>
                  <a:lnTo>
                    <a:pt x="280397" y="48108"/>
                  </a:lnTo>
                  <a:lnTo>
                    <a:pt x="306081" y="81351"/>
                  </a:lnTo>
                  <a:lnTo>
                    <a:pt x="322639" y="120588"/>
                  </a:lnTo>
                  <a:lnTo>
                    <a:pt x="328506" y="164253"/>
                  </a:lnTo>
                  <a:lnTo>
                    <a:pt x="322639" y="207918"/>
                  </a:lnTo>
                  <a:lnTo>
                    <a:pt x="306081" y="247155"/>
                  </a:lnTo>
                  <a:lnTo>
                    <a:pt x="280397" y="280397"/>
                  </a:lnTo>
                  <a:lnTo>
                    <a:pt x="247155" y="306081"/>
                  </a:lnTo>
                  <a:lnTo>
                    <a:pt x="207918" y="322639"/>
                  </a:lnTo>
                  <a:lnTo>
                    <a:pt x="164253" y="328506"/>
                  </a:lnTo>
                  <a:lnTo>
                    <a:pt x="120588" y="322639"/>
                  </a:lnTo>
                  <a:lnTo>
                    <a:pt x="81351" y="306081"/>
                  </a:lnTo>
                  <a:lnTo>
                    <a:pt x="48108" y="280397"/>
                  </a:lnTo>
                  <a:lnTo>
                    <a:pt x="22425" y="247155"/>
                  </a:lnTo>
                  <a:lnTo>
                    <a:pt x="5867" y="207918"/>
                  </a:lnTo>
                  <a:lnTo>
                    <a:pt x="0" y="164253"/>
                  </a:lnTo>
                  <a:close/>
                </a:path>
              </a:pathLst>
            </a:custGeom>
            <a:ln w="27375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" name="object 55" descr=""/>
          <p:cNvGrpSpPr/>
          <p:nvPr/>
        </p:nvGrpSpPr>
        <p:grpSpPr>
          <a:xfrm>
            <a:off x="6162264" y="4529525"/>
            <a:ext cx="356235" cy="356235"/>
            <a:chOff x="6162264" y="4529525"/>
            <a:chExt cx="356235" cy="356235"/>
          </a:xfrm>
        </p:grpSpPr>
        <p:pic>
          <p:nvPicPr>
            <p:cNvPr id="56" name="object 5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75952" y="4543213"/>
              <a:ext cx="328506" cy="328506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6175952" y="4543212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29" h="328929">
                  <a:moveTo>
                    <a:pt x="0" y="164253"/>
                  </a:moveTo>
                  <a:lnTo>
                    <a:pt x="5867" y="120588"/>
                  </a:lnTo>
                  <a:lnTo>
                    <a:pt x="22425" y="81351"/>
                  </a:lnTo>
                  <a:lnTo>
                    <a:pt x="48108" y="48108"/>
                  </a:lnTo>
                  <a:lnTo>
                    <a:pt x="81351" y="22425"/>
                  </a:lnTo>
                  <a:lnTo>
                    <a:pt x="120588" y="5867"/>
                  </a:lnTo>
                  <a:lnTo>
                    <a:pt x="164253" y="0"/>
                  </a:lnTo>
                  <a:lnTo>
                    <a:pt x="207918" y="5867"/>
                  </a:lnTo>
                  <a:lnTo>
                    <a:pt x="247155" y="22425"/>
                  </a:lnTo>
                  <a:lnTo>
                    <a:pt x="280397" y="48108"/>
                  </a:lnTo>
                  <a:lnTo>
                    <a:pt x="306081" y="81351"/>
                  </a:lnTo>
                  <a:lnTo>
                    <a:pt x="322639" y="120588"/>
                  </a:lnTo>
                  <a:lnTo>
                    <a:pt x="328506" y="164253"/>
                  </a:lnTo>
                  <a:lnTo>
                    <a:pt x="322639" y="207918"/>
                  </a:lnTo>
                  <a:lnTo>
                    <a:pt x="306081" y="247155"/>
                  </a:lnTo>
                  <a:lnTo>
                    <a:pt x="280397" y="280397"/>
                  </a:lnTo>
                  <a:lnTo>
                    <a:pt x="247155" y="306081"/>
                  </a:lnTo>
                  <a:lnTo>
                    <a:pt x="207918" y="322639"/>
                  </a:lnTo>
                  <a:lnTo>
                    <a:pt x="164253" y="328506"/>
                  </a:lnTo>
                  <a:lnTo>
                    <a:pt x="120588" y="322639"/>
                  </a:lnTo>
                  <a:lnTo>
                    <a:pt x="81351" y="306081"/>
                  </a:lnTo>
                  <a:lnTo>
                    <a:pt x="48108" y="280397"/>
                  </a:lnTo>
                  <a:lnTo>
                    <a:pt x="22425" y="247155"/>
                  </a:lnTo>
                  <a:lnTo>
                    <a:pt x="5867" y="207918"/>
                  </a:lnTo>
                  <a:lnTo>
                    <a:pt x="0" y="164253"/>
                  </a:lnTo>
                  <a:close/>
                </a:path>
              </a:pathLst>
            </a:custGeom>
            <a:ln w="27375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" name="object 58" descr=""/>
          <p:cNvGrpSpPr/>
          <p:nvPr/>
        </p:nvGrpSpPr>
        <p:grpSpPr>
          <a:xfrm>
            <a:off x="3862719" y="5022285"/>
            <a:ext cx="356235" cy="356235"/>
            <a:chOff x="3862719" y="5022285"/>
            <a:chExt cx="356235" cy="356235"/>
          </a:xfrm>
        </p:grpSpPr>
        <p:pic>
          <p:nvPicPr>
            <p:cNvPr id="59" name="object 5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76407" y="5035973"/>
              <a:ext cx="328505" cy="328506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3876407" y="5035973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29" h="328929">
                  <a:moveTo>
                    <a:pt x="0" y="164253"/>
                  </a:moveTo>
                  <a:lnTo>
                    <a:pt x="5867" y="120588"/>
                  </a:lnTo>
                  <a:lnTo>
                    <a:pt x="22425" y="81351"/>
                  </a:lnTo>
                  <a:lnTo>
                    <a:pt x="48108" y="48108"/>
                  </a:lnTo>
                  <a:lnTo>
                    <a:pt x="81351" y="22425"/>
                  </a:lnTo>
                  <a:lnTo>
                    <a:pt x="120588" y="5867"/>
                  </a:lnTo>
                  <a:lnTo>
                    <a:pt x="164253" y="0"/>
                  </a:lnTo>
                  <a:lnTo>
                    <a:pt x="207918" y="5867"/>
                  </a:lnTo>
                  <a:lnTo>
                    <a:pt x="247155" y="22425"/>
                  </a:lnTo>
                  <a:lnTo>
                    <a:pt x="280397" y="48108"/>
                  </a:lnTo>
                  <a:lnTo>
                    <a:pt x="306081" y="81351"/>
                  </a:lnTo>
                  <a:lnTo>
                    <a:pt x="322639" y="120588"/>
                  </a:lnTo>
                  <a:lnTo>
                    <a:pt x="328506" y="164253"/>
                  </a:lnTo>
                  <a:lnTo>
                    <a:pt x="322639" y="207918"/>
                  </a:lnTo>
                  <a:lnTo>
                    <a:pt x="306081" y="247155"/>
                  </a:lnTo>
                  <a:lnTo>
                    <a:pt x="280397" y="280397"/>
                  </a:lnTo>
                  <a:lnTo>
                    <a:pt x="247155" y="306081"/>
                  </a:lnTo>
                  <a:lnTo>
                    <a:pt x="207918" y="322639"/>
                  </a:lnTo>
                  <a:lnTo>
                    <a:pt x="164253" y="328506"/>
                  </a:lnTo>
                  <a:lnTo>
                    <a:pt x="120588" y="322639"/>
                  </a:lnTo>
                  <a:lnTo>
                    <a:pt x="81351" y="306081"/>
                  </a:lnTo>
                  <a:lnTo>
                    <a:pt x="48108" y="280397"/>
                  </a:lnTo>
                  <a:lnTo>
                    <a:pt x="22425" y="247155"/>
                  </a:lnTo>
                  <a:lnTo>
                    <a:pt x="5867" y="207918"/>
                  </a:lnTo>
                  <a:lnTo>
                    <a:pt x="0" y="164253"/>
                  </a:lnTo>
                  <a:close/>
                </a:path>
              </a:pathLst>
            </a:custGeom>
            <a:ln w="27375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1" name="object 61" descr=""/>
          <p:cNvGrpSpPr/>
          <p:nvPr/>
        </p:nvGrpSpPr>
        <p:grpSpPr>
          <a:xfrm>
            <a:off x="3862719" y="2886992"/>
            <a:ext cx="356235" cy="356235"/>
            <a:chOff x="3862719" y="2886992"/>
            <a:chExt cx="356235" cy="356235"/>
          </a:xfrm>
        </p:grpSpPr>
        <p:pic>
          <p:nvPicPr>
            <p:cNvPr id="62" name="object 6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76407" y="2900680"/>
              <a:ext cx="328505" cy="328506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3876407" y="2900679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29" h="328930">
                  <a:moveTo>
                    <a:pt x="0" y="164253"/>
                  </a:moveTo>
                  <a:lnTo>
                    <a:pt x="5867" y="120588"/>
                  </a:lnTo>
                  <a:lnTo>
                    <a:pt x="22425" y="81351"/>
                  </a:lnTo>
                  <a:lnTo>
                    <a:pt x="48108" y="48108"/>
                  </a:lnTo>
                  <a:lnTo>
                    <a:pt x="81351" y="22425"/>
                  </a:lnTo>
                  <a:lnTo>
                    <a:pt x="120588" y="5867"/>
                  </a:lnTo>
                  <a:lnTo>
                    <a:pt x="164253" y="0"/>
                  </a:lnTo>
                  <a:lnTo>
                    <a:pt x="207918" y="5867"/>
                  </a:lnTo>
                  <a:lnTo>
                    <a:pt x="247155" y="22425"/>
                  </a:lnTo>
                  <a:lnTo>
                    <a:pt x="280397" y="48108"/>
                  </a:lnTo>
                  <a:lnTo>
                    <a:pt x="306081" y="81351"/>
                  </a:lnTo>
                  <a:lnTo>
                    <a:pt x="322639" y="120588"/>
                  </a:lnTo>
                  <a:lnTo>
                    <a:pt x="328506" y="164253"/>
                  </a:lnTo>
                  <a:lnTo>
                    <a:pt x="322639" y="207918"/>
                  </a:lnTo>
                  <a:lnTo>
                    <a:pt x="306081" y="247155"/>
                  </a:lnTo>
                  <a:lnTo>
                    <a:pt x="280397" y="280397"/>
                  </a:lnTo>
                  <a:lnTo>
                    <a:pt x="247155" y="306081"/>
                  </a:lnTo>
                  <a:lnTo>
                    <a:pt x="207918" y="322639"/>
                  </a:lnTo>
                  <a:lnTo>
                    <a:pt x="164253" y="328506"/>
                  </a:lnTo>
                  <a:lnTo>
                    <a:pt x="120588" y="322639"/>
                  </a:lnTo>
                  <a:lnTo>
                    <a:pt x="81351" y="306081"/>
                  </a:lnTo>
                  <a:lnTo>
                    <a:pt x="48108" y="280397"/>
                  </a:lnTo>
                  <a:lnTo>
                    <a:pt x="22425" y="247155"/>
                  </a:lnTo>
                  <a:lnTo>
                    <a:pt x="5867" y="207918"/>
                  </a:lnTo>
                  <a:lnTo>
                    <a:pt x="0" y="164253"/>
                  </a:lnTo>
                  <a:close/>
                </a:path>
              </a:pathLst>
            </a:custGeom>
            <a:ln w="27375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4" name="object 64" descr=""/>
          <p:cNvGrpSpPr/>
          <p:nvPr/>
        </p:nvGrpSpPr>
        <p:grpSpPr>
          <a:xfrm>
            <a:off x="3862719" y="3954639"/>
            <a:ext cx="356235" cy="356235"/>
            <a:chOff x="3862719" y="3954639"/>
            <a:chExt cx="356235" cy="356235"/>
          </a:xfrm>
        </p:grpSpPr>
        <p:pic>
          <p:nvPicPr>
            <p:cNvPr id="65" name="object 6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76407" y="3968327"/>
              <a:ext cx="328505" cy="328505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3876407" y="3968327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29" h="328929">
                  <a:moveTo>
                    <a:pt x="0" y="164253"/>
                  </a:moveTo>
                  <a:lnTo>
                    <a:pt x="5867" y="120588"/>
                  </a:lnTo>
                  <a:lnTo>
                    <a:pt x="22425" y="81351"/>
                  </a:lnTo>
                  <a:lnTo>
                    <a:pt x="48108" y="48108"/>
                  </a:lnTo>
                  <a:lnTo>
                    <a:pt x="81351" y="22425"/>
                  </a:lnTo>
                  <a:lnTo>
                    <a:pt x="120588" y="5867"/>
                  </a:lnTo>
                  <a:lnTo>
                    <a:pt x="164253" y="0"/>
                  </a:lnTo>
                  <a:lnTo>
                    <a:pt x="207918" y="5867"/>
                  </a:lnTo>
                  <a:lnTo>
                    <a:pt x="247155" y="22425"/>
                  </a:lnTo>
                  <a:lnTo>
                    <a:pt x="280397" y="48108"/>
                  </a:lnTo>
                  <a:lnTo>
                    <a:pt x="306081" y="81351"/>
                  </a:lnTo>
                  <a:lnTo>
                    <a:pt x="322639" y="120588"/>
                  </a:lnTo>
                  <a:lnTo>
                    <a:pt x="328506" y="164253"/>
                  </a:lnTo>
                  <a:lnTo>
                    <a:pt x="322639" y="207918"/>
                  </a:lnTo>
                  <a:lnTo>
                    <a:pt x="306081" y="247155"/>
                  </a:lnTo>
                  <a:lnTo>
                    <a:pt x="280397" y="280397"/>
                  </a:lnTo>
                  <a:lnTo>
                    <a:pt x="247155" y="306081"/>
                  </a:lnTo>
                  <a:lnTo>
                    <a:pt x="207918" y="322639"/>
                  </a:lnTo>
                  <a:lnTo>
                    <a:pt x="164253" y="328506"/>
                  </a:lnTo>
                  <a:lnTo>
                    <a:pt x="120588" y="322639"/>
                  </a:lnTo>
                  <a:lnTo>
                    <a:pt x="81351" y="306081"/>
                  </a:lnTo>
                  <a:lnTo>
                    <a:pt x="48108" y="280397"/>
                  </a:lnTo>
                  <a:lnTo>
                    <a:pt x="22425" y="247155"/>
                  </a:lnTo>
                  <a:lnTo>
                    <a:pt x="5867" y="207918"/>
                  </a:lnTo>
                  <a:lnTo>
                    <a:pt x="0" y="164253"/>
                  </a:lnTo>
                  <a:close/>
                </a:path>
              </a:pathLst>
            </a:custGeom>
            <a:ln w="27375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73530">
              <a:lnSpc>
                <a:spcPct val="100000"/>
              </a:lnSpc>
              <a:spcBef>
                <a:spcPts val="100"/>
              </a:spcBef>
            </a:pPr>
            <a:r>
              <a:rPr dirty="0"/>
              <a:t>Revenue</a:t>
            </a:r>
            <a:r>
              <a:rPr dirty="0" spc="-110"/>
              <a:t> </a:t>
            </a:r>
            <a:r>
              <a:rPr dirty="0" spc="-10"/>
              <a:t>Model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666622" y="1689312"/>
          <a:ext cx="9124315" cy="4863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6575"/>
                <a:gridCol w="1806575"/>
                <a:gridCol w="1806575"/>
                <a:gridCol w="1806575"/>
                <a:gridCol w="1806575"/>
              </a:tblGrid>
              <a:tr h="540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Basic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Silver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9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Gold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Platinum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54038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900">
                          <a:latin typeface="Calibri"/>
                          <a:cs typeface="Calibri"/>
                        </a:rPr>
                        <a:t>Monthly</a:t>
                      </a:r>
                      <a:r>
                        <a:rPr dirty="0" sz="190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20">
                          <a:latin typeface="Calibri"/>
                          <a:cs typeface="Calibri"/>
                        </a:rPr>
                        <a:t>Price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$9.95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$79.95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$199.95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$799.95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  <a:tr h="54038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900">
                          <a:latin typeface="Calibri"/>
                          <a:cs typeface="Calibri"/>
                        </a:rPr>
                        <a:t>Price</a:t>
                      </a:r>
                      <a:r>
                        <a:rPr dirty="0" sz="190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>
                          <a:latin typeface="Calibri"/>
                          <a:cs typeface="Calibri"/>
                        </a:rPr>
                        <a:t>per</a:t>
                      </a:r>
                      <a:r>
                        <a:rPr dirty="0" sz="190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20">
                          <a:latin typeface="Calibri"/>
                          <a:cs typeface="Calibri"/>
                        </a:rPr>
                        <a:t>email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$0.001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$0.00075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$0.00050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900" spc="-10">
                          <a:latin typeface="Calibri"/>
                          <a:cs typeface="Calibri"/>
                        </a:rPr>
                        <a:t>$0.00045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</a:tr>
              <a:tr h="54038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900">
                          <a:latin typeface="Calibri"/>
                          <a:cs typeface="Calibri"/>
                        </a:rPr>
                        <a:t>Custom</a:t>
                      </a:r>
                      <a:r>
                        <a:rPr dirty="0" sz="190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25">
                          <a:latin typeface="Calibri"/>
                          <a:cs typeface="Calibri"/>
                        </a:rPr>
                        <a:t>IP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  <a:tr h="54038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900">
                          <a:latin typeface="Calibri"/>
                          <a:cs typeface="Calibri"/>
                        </a:rPr>
                        <a:t>Click</a:t>
                      </a:r>
                      <a:r>
                        <a:rPr dirty="0" sz="190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10">
                          <a:latin typeface="Calibri"/>
                          <a:cs typeface="Calibri"/>
                        </a:rPr>
                        <a:t>Tracking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</a:tr>
              <a:tr h="54038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900">
                          <a:latin typeface="Calibri"/>
                          <a:cs typeface="Calibri"/>
                        </a:rPr>
                        <a:t>Open</a:t>
                      </a:r>
                      <a:r>
                        <a:rPr dirty="0" sz="190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10">
                          <a:latin typeface="Calibri"/>
                          <a:cs typeface="Calibri"/>
                        </a:rPr>
                        <a:t>Tracking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  <a:tr h="54038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900">
                          <a:latin typeface="Calibri"/>
                          <a:cs typeface="Calibri"/>
                        </a:rPr>
                        <a:t>White</a:t>
                      </a:r>
                      <a:r>
                        <a:rPr dirty="0" sz="190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20">
                          <a:latin typeface="Calibri"/>
                          <a:cs typeface="Calibri"/>
                        </a:rPr>
                        <a:t>label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</a:tr>
              <a:tr h="54038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900">
                          <a:latin typeface="Calibri"/>
                          <a:cs typeface="Calibri"/>
                        </a:rPr>
                        <a:t>Reseller</a:t>
                      </a:r>
                      <a:r>
                        <a:rPr dirty="0" sz="19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20">
                          <a:latin typeface="Calibri"/>
                          <a:cs typeface="Calibri"/>
                        </a:rPr>
                        <a:t>Panel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  <a:tr h="54038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900">
                          <a:latin typeface="Calibri"/>
                          <a:cs typeface="Calibri"/>
                        </a:rPr>
                        <a:t>Priority</a:t>
                      </a:r>
                      <a:r>
                        <a:rPr dirty="0" sz="190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-10">
                          <a:latin typeface="Calibri"/>
                          <a:cs typeface="Calibri"/>
                        </a:rPr>
                        <a:t>Support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41851" y="3390900"/>
            <a:ext cx="414527" cy="41452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41851" y="3884676"/>
            <a:ext cx="414527" cy="41452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41851" y="4378452"/>
            <a:ext cx="414527" cy="41148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41851" y="4951476"/>
            <a:ext cx="414527" cy="414528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34387" y="3390900"/>
            <a:ext cx="414528" cy="414527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31611" y="3884676"/>
            <a:ext cx="414527" cy="414527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831611" y="3308603"/>
            <a:ext cx="414527" cy="414527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31611" y="4378452"/>
            <a:ext cx="414527" cy="41148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831611" y="4951476"/>
            <a:ext cx="414527" cy="414528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831611" y="5527547"/>
            <a:ext cx="414527" cy="414527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721372" y="6021323"/>
            <a:ext cx="411479" cy="41147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721372" y="5527547"/>
            <a:ext cx="411479" cy="414527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721372" y="4951476"/>
            <a:ext cx="411479" cy="414528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721372" y="4460747"/>
            <a:ext cx="411479" cy="411479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721372" y="3884676"/>
            <a:ext cx="411479" cy="414527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721372" y="3308603"/>
            <a:ext cx="411479" cy="41452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77192" y="1315245"/>
            <a:ext cx="4584700" cy="5093970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marL="381635" indent="-368935">
              <a:lnSpc>
                <a:spcPct val="100000"/>
              </a:lnSpc>
              <a:spcBef>
                <a:spcPts val="1015"/>
              </a:spcBef>
              <a:buFont typeface="Arial"/>
              <a:buChar char="•"/>
              <a:tabLst>
                <a:tab pos="381635" algn="l"/>
              </a:tabLst>
            </a:pPr>
            <a:r>
              <a:rPr dirty="0" sz="3400" spc="-10">
                <a:solidFill>
                  <a:srgbClr val="595959"/>
                </a:solidFill>
                <a:latin typeface="Calibri"/>
                <a:cs typeface="Calibri"/>
              </a:rPr>
              <a:t>Direct</a:t>
            </a:r>
            <a:endParaRPr sz="3400">
              <a:latin typeface="Calibri"/>
              <a:cs typeface="Calibri"/>
            </a:endParaRPr>
          </a:p>
          <a:p>
            <a:pPr lvl="1" marL="813435" indent="-307975">
              <a:lnSpc>
                <a:spcPct val="100000"/>
              </a:lnSpc>
              <a:spcBef>
                <a:spcPts val="805"/>
              </a:spcBef>
              <a:buFont typeface="Arial"/>
              <a:buChar char="–"/>
              <a:tabLst>
                <a:tab pos="813435" algn="l"/>
              </a:tabLst>
            </a:pPr>
            <a:r>
              <a:rPr dirty="0" sz="3000">
                <a:solidFill>
                  <a:srgbClr val="595959"/>
                </a:solidFill>
                <a:latin typeface="Calibri"/>
                <a:cs typeface="Calibri"/>
              </a:rPr>
              <a:t>Ad</a:t>
            </a:r>
            <a:r>
              <a:rPr dirty="0" sz="3000" spc="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000" spc="-10">
                <a:solidFill>
                  <a:srgbClr val="595959"/>
                </a:solidFill>
                <a:latin typeface="Calibri"/>
                <a:cs typeface="Calibri"/>
              </a:rPr>
              <a:t>campaigns</a:t>
            </a:r>
            <a:endParaRPr sz="3000">
              <a:latin typeface="Calibri"/>
              <a:cs typeface="Calibri"/>
            </a:endParaRPr>
          </a:p>
          <a:p>
            <a:pPr lvl="1" marL="813435" indent="-307975">
              <a:lnSpc>
                <a:spcPct val="100000"/>
              </a:lnSpc>
              <a:spcBef>
                <a:spcPts val="820"/>
              </a:spcBef>
              <a:buFont typeface="Arial"/>
              <a:buChar char="–"/>
              <a:tabLst>
                <a:tab pos="813435" algn="l"/>
              </a:tabLst>
            </a:pPr>
            <a:r>
              <a:rPr dirty="0" sz="3000">
                <a:solidFill>
                  <a:srgbClr val="595959"/>
                </a:solidFill>
                <a:latin typeface="Calibri"/>
                <a:cs typeface="Calibri"/>
              </a:rPr>
              <a:t>Social</a:t>
            </a:r>
            <a:r>
              <a:rPr dirty="0" sz="300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595959"/>
                </a:solidFill>
                <a:latin typeface="Calibri"/>
                <a:cs typeface="Calibri"/>
              </a:rPr>
              <a:t>media</a:t>
            </a:r>
            <a:r>
              <a:rPr dirty="0" sz="3000" spc="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000" spc="-10">
                <a:solidFill>
                  <a:srgbClr val="595959"/>
                </a:solidFill>
                <a:latin typeface="Calibri"/>
                <a:cs typeface="Calibri"/>
              </a:rPr>
              <a:t>marketing</a:t>
            </a:r>
            <a:endParaRPr sz="3000">
              <a:latin typeface="Calibri"/>
              <a:cs typeface="Calibri"/>
            </a:endParaRPr>
          </a:p>
          <a:p>
            <a:pPr lvl="1" marL="813435" indent="-307975">
              <a:lnSpc>
                <a:spcPct val="100000"/>
              </a:lnSpc>
              <a:spcBef>
                <a:spcPts val="790"/>
              </a:spcBef>
              <a:buFont typeface="Arial"/>
              <a:buChar char="–"/>
              <a:tabLst>
                <a:tab pos="813435" algn="l"/>
              </a:tabLst>
            </a:pPr>
            <a:r>
              <a:rPr dirty="0" sz="3000">
                <a:solidFill>
                  <a:srgbClr val="595959"/>
                </a:solidFill>
                <a:latin typeface="Calibri"/>
                <a:cs typeface="Calibri"/>
              </a:rPr>
              <a:t>Open</a:t>
            </a:r>
            <a:r>
              <a:rPr dirty="0" sz="300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595959"/>
                </a:solidFill>
                <a:latin typeface="Calibri"/>
                <a:cs typeface="Calibri"/>
              </a:rPr>
              <a:t>source</a:t>
            </a:r>
            <a:r>
              <a:rPr dirty="0" sz="3000" spc="-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000" spc="-10">
                <a:solidFill>
                  <a:srgbClr val="595959"/>
                </a:solidFill>
                <a:latin typeface="Calibri"/>
                <a:cs typeface="Calibri"/>
              </a:rPr>
              <a:t>integration</a:t>
            </a:r>
            <a:endParaRPr sz="3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835"/>
              </a:spcBef>
              <a:buClr>
                <a:srgbClr val="595959"/>
              </a:buClr>
              <a:buFont typeface="Arial"/>
              <a:buChar char="–"/>
            </a:pPr>
            <a:endParaRPr sz="3000">
              <a:latin typeface="Calibri"/>
              <a:cs typeface="Calibri"/>
            </a:endParaRPr>
          </a:p>
          <a:p>
            <a:pPr marL="381635" indent="-368935">
              <a:lnSpc>
                <a:spcPct val="100000"/>
              </a:lnSpc>
              <a:buFont typeface="Arial"/>
              <a:buChar char="•"/>
              <a:tabLst>
                <a:tab pos="381635" algn="l"/>
              </a:tabLst>
            </a:pP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Distribution</a:t>
            </a:r>
            <a:r>
              <a:rPr dirty="0" sz="3400" spc="17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595959"/>
                </a:solidFill>
                <a:latin typeface="Calibri"/>
                <a:cs typeface="Calibri"/>
              </a:rPr>
              <a:t>channels</a:t>
            </a:r>
            <a:endParaRPr sz="3400">
              <a:latin typeface="Calibri"/>
              <a:cs typeface="Calibri"/>
            </a:endParaRPr>
          </a:p>
          <a:p>
            <a:pPr lvl="1" marL="813435" indent="-307975">
              <a:lnSpc>
                <a:spcPct val="100000"/>
              </a:lnSpc>
              <a:spcBef>
                <a:spcPts val="830"/>
              </a:spcBef>
              <a:buFont typeface="Arial"/>
              <a:buChar char="–"/>
              <a:tabLst>
                <a:tab pos="813435" algn="l"/>
              </a:tabLst>
            </a:pPr>
            <a:r>
              <a:rPr dirty="0" sz="3000">
                <a:solidFill>
                  <a:srgbClr val="595959"/>
                </a:solidFill>
                <a:latin typeface="Calibri"/>
                <a:cs typeface="Calibri"/>
              </a:rPr>
              <a:t>Hosting</a:t>
            </a:r>
            <a:r>
              <a:rPr dirty="0" sz="3000" spc="-5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000" spc="-10">
                <a:solidFill>
                  <a:srgbClr val="595959"/>
                </a:solidFill>
                <a:latin typeface="Calibri"/>
                <a:cs typeface="Calibri"/>
              </a:rPr>
              <a:t>companies</a:t>
            </a:r>
            <a:endParaRPr sz="3000">
              <a:latin typeface="Calibri"/>
              <a:cs typeface="Calibri"/>
            </a:endParaRPr>
          </a:p>
          <a:p>
            <a:pPr lvl="1" marL="813435" indent="-307975">
              <a:lnSpc>
                <a:spcPct val="100000"/>
              </a:lnSpc>
              <a:spcBef>
                <a:spcPts val="695"/>
              </a:spcBef>
              <a:buFont typeface="Arial"/>
              <a:buChar char="–"/>
              <a:tabLst>
                <a:tab pos="813435" algn="l"/>
              </a:tabLst>
            </a:pPr>
            <a:r>
              <a:rPr dirty="0" sz="300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r>
              <a:rPr dirty="0" sz="3000" spc="-15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000" spc="-10">
                <a:solidFill>
                  <a:srgbClr val="595959"/>
                </a:solidFill>
                <a:latin typeface="Calibri"/>
                <a:cs typeface="Calibri"/>
              </a:rPr>
              <a:t>administrators</a:t>
            </a:r>
            <a:endParaRPr sz="3000">
              <a:latin typeface="Calibri"/>
              <a:cs typeface="Calibri"/>
            </a:endParaRPr>
          </a:p>
          <a:p>
            <a:pPr lvl="1" marL="813435" indent="-307975">
              <a:lnSpc>
                <a:spcPct val="100000"/>
              </a:lnSpc>
              <a:spcBef>
                <a:spcPts val="795"/>
              </a:spcBef>
              <a:buFont typeface="Arial"/>
              <a:buChar char="–"/>
              <a:tabLst>
                <a:tab pos="813435" algn="l"/>
              </a:tabLst>
            </a:pPr>
            <a:r>
              <a:rPr dirty="0" sz="3000">
                <a:solidFill>
                  <a:srgbClr val="595959"/>
                </a:solidFill>
                <a:latin typeface="Calibri"/>
                <a:cs typeface="Calibri"/>
              </a:rPr>
              <a:t>Web</a:t>
            </a:r>
            <a:r>
              <a:rPr dirty="0" sz="3000" spc="-8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595959"/>
                </a:solidFill>
                <a:latin typeface="Calibri"/>
                <a:cs typeface="Calibri"/>
              </a:rPr>
              <a:t>development</a:t>
            </a:r>
            <a:r>
              <a:rPr dirty="0" sz="3000" spc="-9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000" spc="-10">
                <a:solidFill>
                  <a:srgbClr val="595959"/>
                </a:solidFill>
                <a:latin typeface="Calibri"/>
                <a:cs typeface="Calibri"/>
              </a:rPr>
              <a:t>firms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63600">
              <a:lnSpc>
                <a:spcPct val="100000"/>
              </a:lnSpc>
              <a:spcBef>
                <a:spcPts val="100"/>
              </a:spcBef>
            </a:pPr>
            <a:r>
              <a:rPr dirty="0"/>
              <a:t>Customer</a:t>
            </a:r>
            <a:r>
              <a:rPr dirty="0" spc="-60"/>
              <a:t> </a:t>
            </a:r>
            <a:r>
              <a:rPr dirty="0" spc="-10"/>
              <a:t>Acquisition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7836" y="2982467"/>
            <a:ext cx="3102864" cy="306019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77192" y="2559303"/>
            <a:ext cx="5530215" cy="3082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635" indent="-3689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81635" algn="l"/>
              </a:tabLst>
            </a:pP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Nearly</a:t>
            </a:r>
            <a:r>
              <a:rPr dirty="0" sz="3400" spc="5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100</a:t>
            </a:r>
            <a:r>
              <a:rPr dirty="0" sz="3400" spc="5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paying</a:t>
            </a:r>
            <a:r>
              <a:rPr dirty="0" sz="3400" spc="6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595959"/>
                </a:solidFill>
                <a:latin typeface="Calibri"/>
                <a:cs typeface="Calibri"/>
              </a:rPr>
              <a:t>customers</a:t>
            </a:r>
            <a:endParaRPr sz="3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50"/>
              </a:spcBef>
              <a:buClr>
                <a:srgbClr val="595959"/>
              </a:buClr>
              <a:buFont typeface="Arial"/>
              <a:buChar char="•"/>
            </a:pPr>
            <a:endParaRPr sz="3400">
              <a:latin typeface="Calibri"/>
              <a:cs typeface="Calibri"/>
            </a:endParaRPr>
          </a:p>
          <a:p>
            <a:pPr marL="381635" indent="-368935">
              <a:lnSpc>
                <a:spcPct val="100000"/>
              </a:lnSpc>
              <a:buFont typeface="Arial"/>
              <a:buChar char="•"/>
              <a:tabLst>
                <a:tab pos="381635" algn="l"/>
              </a:tabLst>
            </a:pP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Over</a:t>
            </a:r>
            <a:r>
              <a:rPr dirty="0" sz="3400" spc="7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150</a:t>
            </a:r>
            <a:r>
              <a:rPr dirty="0" sz="3400" spc="8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million</a:t>
            </a:r>
            <a:r>
              <a:rPr dirty="0" sz="3400" spc="9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emails</a:t>
            </a:r>
            <a:r>
              <a:rPr dirty="0" sz="3400" spc="8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solidFill>
                  <a:srgbClr val="595959"/>
                </a:solidFill>
                <a:latin typeface="Calibri"/>
                <a:cs typeface="Calibri"/>
              </a:rPr>
              <a:t>sent</a:t>
            </a:r>
            <a:endParaRPr sz="3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80"/>
              </a:spcBef>
              <a:buClr>
                <a:srgbClr val="595959"/>
              </a:buClr>
              <a:buFont typeface="Arial"/>
              <a:buChar char="•"/>
            </a:pPr>
            <a:endParaRPr sz="3400">
              <a:latin typeface="Calibri"/>
              <a:cs typeface="Calibri"/>
            </a:endParaRPr>
          </a:p>
          <a:p>
            <a:pPr marL="381635" indent="-368935">
              <a:lnSpc>
                <a:spcPct val="100000"/>
              </a:lnSpc>
              <a:buFont typeface="Arial"/>
              <a:buChar char="•"/>
              <a:tabLst>
                <a:tab pos="381635" algn="l"/>
              </a:tabLst>
            </a:pP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3</a:t>
            </a:r>
            <a:r>
              <a:rPr dirty="0" sz="3400" spc="1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million</a:t>
            </a:r>
            <a:r>
              <a:rPr dirty="0" sz="3400" spc="10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emails</a:t>
            </a:r>
            <a:r>
              <a:rPr dirty="0" sz="3400" spc="9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per</a:t>
            </a:r>
            <a:r>
              <a:rPr dirty="0" sz="3400" spc="8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595959"/>
                </a:solidFill>
                <a:latin typeface="Calibri"/>
                <a:cs typeface="Calibri"/>
              </a:rPr>
              <a:t>day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269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Progress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0131" y="2900172"/>
            <a:ext cx="3133344" cy="313334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9572" y="1586652"/>
            <a:ext cx="3969456" cy="297880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77192" y="1315245"/>
            <a:ext cx="5832475" cy="4636770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marL="381635" indent="-368935">
              <a:lnSpc>
                <a:spcPct val="100000"/>
              </a:lnSpc>
              <a:spcBef>
                <a:spcPts val="1015"/>
              </a:spcBef>
              <a:buFont typeface="Arial"/>
              <a:buChar char="•"/>
              <a:tabLst>
                <a:tab pos="381635" algn="l"/>
              </a:tabLst>
            </a:pPr>
            <a:r>
              <a:rPr dirty="0" sz="3400">
                <a:solidFill>
                  <a:srgbClr val="595959"/>
                </a:solidFill>
                <a:latin typeface="Calibri"/>
                <a:cs typeface="Calibri"/>
              </a:rPr>
              <a:t>Raise</a:t>
            </a:r>
            <a:r>
              <a:rPr dirty="0" sz="3400" spc="10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595959"/>
                </a:solidFill>
                <a:latin typeface="Calibri"/>
                <a:cs typeface="Calibri"/>
              </a:rPr>
              <a:t>$300k</a:t>
            </a:r>
            <a:endParaRPr sz="3400">
              <a:latin typeface="Calibri"/>
              <a:cs typeface="Calibri"/>
            </a:endParaRPr>
          </a:p>
          <a:p>
            <a:pPr lvl="1" marL="813435" indent="-307975">
              <a:lnSpc>
                <a:spcPct val="100000"/>
              </a:lnSpc>
              <a:spcBef>
                <a:spcPts val="805"/>
              </a:spcBef>
              <a:buFont typeface="Arial"/>
              <a:buChar char="–"/>
              <a:tabLst>
                <a:tab pos="813435" algn="l"/>
              </a:tabLst>
            </a:pPr>
            <a:r>
              <a:rPr dirty="0" sz="3000">
                <a:solidFill>
                  <a:srgbClr val="595959"/>
                </a:solidFill>
                <a:latin typeface="Calibri"/>
                <a:cs typeface="Calibri"/>
              </a:rPr>
              <a:t>Solid Sales &amp; </a:t>
            </a:r>
            <a:r>
              <a:rPr dirty="0" sz="3000" spc="-10">
                <a:solidFill>
                  <a:srgbClr val="595959"/>
                </a:solidFill>
                <a:latin typeface="Calibri"/>
                <a:cs typeface="Calibri"/>
              </a:rPr>
              <a:t>Marketing</a:t>
            </a:r>
            <a:endParaRPr sz="3000">
              <a:latin typeface="Calibri"/>
              <a:cs typeface="Calibri"/>
            </a:endParaRPr>
          </a:p>
          <a:p>
            <a:pPr lvl="1" marL="813435" indent="-307975">
              <a:lnSpc>
                <a:spcPct val="100000"/>
              </a:lnSpc>
              <a:spcBef>
                <a:spcPts val="820"/>
              </a:spcBef>
              <a:buFont typeface="Arial"/>
              <a:buChar char="–"/>
              <a:tabLst>
                <a:tab pos="813435" algn="l"/>
              </a:tabLst>
            </a:pPr>
            <a:r>
              <a:rPr dirty="0" sz="3000">
                <a:solidFill>
                  <a:srgbClr val="595959"/>
                </a:solidFill>
                <a:latin typeface="Calibri"/>
                <a:cs typeface="Calibri"/>
              </a:rPr>
              <a:t>400 </a:t>
            </a:r>
            <a:r>
              <a:rPr dirty="0" sz="3000" spc="-10">
                <a:solidFill>
                  <a:srgbClr val="595959"/>
                </a:solidFill>
                <a:latin typeface="Calibri"/>
                <a:cs typeface="Calibri"/>
              </a:rPr>
              <a:t>customers</a:t>
            </a:r>
            <a:endParaRPr sz="3000">
              <a:latin typeface="Calibri"/>
              <a:cs typeface="Calibri"/>
            </a:endParaRPr>
          </a:p>
          <a:p>
            <a:pPr lvl="1" marL="813435" indent="-307975">
              <a:lnSpc>
                <a:spcPct val="100000"/>
              </a:lnSpc>
              <a:spcBef>
                <a:spcPts val="790"/>
              </a:spcBef>
              <a:buFont typeface="Arial"/>
              <a:buChar char="–"/>
              <a:tabLst>
                <a:tab pos="813435" algn="l"/>
              </a:tabLst>
            </a:pPr>
            <a:r>
              <a:rPr dirty="0" sz="3000">
                <a:solidFill>
                  <a:srgbClr val="595959"/>
                </a:solidFill>
                <a:latin typeface="Calibri"/>
                <a:cs typeface="Calibri"/>
              </a:rPr>
              <a:t>$60k</a:t>
            </a:r>
            <a:r>
              <a:rPr dirty="0" sz="3000" spc="-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595959"/>
                </a:solidFill>
                <a:latin typeface="Calibri"/>
                <a:cs typeface="Calibri"/>
              </a:rPr>
              <a:t>monthly</a:t>
            </a:r>
            <a:r>
              <a:rPr dirty="0" sz="3000" spc="-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595959"/>
                </a:solidFill>
                <a:latin typeface="Calibri"/>
                <a:cs typeface="Calibri"/>
              </a:rPr>
              <a:t>recurring</a:t>
            </a:r>
            <a:r>
              <a:rPr dirty="0" sz="3000" spc="-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000" spc="-10">
                <a:solidFill>
                  <a:srgbClr val="595959"/>
                </a:solidFill>
                <a:latin typeface="Calibri"/>
                <a:cs typeface="Calibri"/>
              </a:rPr>
              <a:t>revenue</a:t>
            </a:r>
            <a:endParaRPr sz="3000">
              <a:latin typeface="Calibri"/>
              <a:cs typeface="Calibri"/>
            </a:endParaRPr>
          </a:p>
          <a:p>
            <a:pPr marL="381635" indent="-368935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381635" algn="l"/>
              </a:tabLst>
            </a:pPr>
            <a:r>
              <a:rPr dirty="0" sz="3400" spc="-10">
                <a:solidFill>
                  <a:srgbClr val="595959"/>
                </a:solidFill>
                <a:latin typeface="Calibri"/>
                <a:cs typeface="Calibri"/>
              </a:rPr>
              <a:t>Investors</a:t>
            </a:r>
            <a:endParaRPr sz="3400">
              <a:latin typeface="Calibri"/>
              <a:cs typeface="Calibri"/>
            </a:endParaRPr>
          </a:p>
          <a:p>
            <a:pPr lvl="1" marL="813435" indent="-307975">
              <a:lnSpc>
                <a:spcPct val="100000"/>
              </a:lnSpc>
              <a:spcBef>
                <a:spcPts val="830"/>
              </a:spcBef>
              <a:buFont typeface="Arial"/>
              <a:buChar char="–"/>
              <a:tabLst>
                <a:tab pos="813435" algn="l"/>
              </a:tabLst>
            </a:pPr>
            <a:r>
              <a:rPr dirty="0" sz="3000">
                <a:solidFill>
                  <a:srgbClr val="595959"/>
                </a:solidFill>
                <a:latin typeface="Calibri"/>
                <a:cs typeface="Calibri"/>
              </a:rPr>
              <a:t>Email</a:t>
            </a:r>
            <a:r>
              <a:rPr dirty="0" sz="3000" spc="-3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000" spc="-10">
                <a:solidFill>
                  <a:srgbClr val="595959"/>
                </a:solidFill>
                <a:latin typeface="Calibri"/>
                <a:cs typeface="Calibri"/>
              </a:rPr>
              <a:t>experience</a:t>
            </a:r>
            <a:endParaRPr sz="3000">
              <a:latin typeface="Calibri"/>
              <a:cs typeface="Calibri"/>
            </a:endParaRPr>
          </a:p>
          <a:p>
            <a:pPr lvl="1" marL="813435" indent="-307975">
              <a:lnSpc>
                <a:spcPct val="100000"/>
              </a:lnSpc>
              <a:spcBef>
                <a:spcPts val="795"/>
              </a:spcBef>
              <a:buFont typeface="Arial"/>
              <a:buChar char="–"/>
              <a:tabLst>
                <a:tab pos="813435" algn="l"/>
              </a:tabLst>
            </a:pPr>
            <a:r>
              <a:rPr dirty="0" sz="3000">
                <a:solidFill>
                  <a:srgbClr val="595959"/>
                </a:solidFill>
                <a:latin typeface="Calibri"/>
                <a:cs typeface="Calibri"/>
              </a:rPr>
              <a:t>Contacts</a:t>
            </a:r>
            <a:r>
              <a:rPr dirty="0" sz="3000" spc="-3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dirty="0" sz="3000" spc="-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595959"/>
                </a:solidFill>
                <a:latin typeface="Calibri"/>
                <a:cs typeface="Calibri"/>
              </a:rPr>
              <a:t>hosting</a:t>
            </a:r>
            <a:r>
              <a:rPr dirty="0" sz="3000" spc="-3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3000" spc="-10">
                <a:solidFill>
                  <a:srgbClr val="595959"/>
                </a:solidFill>
                <a:latin typeface="Calibri"/>
                <a:cs typeface="Calibri"/>
              </a:rPr>
              <a:t>providers</a:t>
            </a:r>
            <a:endParaRPr sz="3000">
              <a:latin typeface="Calibri"/>
              <a:cs typeface="Calibri"/>
            </a:endParaRPr>
          </a:p>
          <a:p>
            <a:pPr lvl="1" marL="813435" indent="-307975">
              <a:lnSpc>
                <a:spcPct val="100000"/>
              </a:lnSpc>
              <a:spcBef>
                <a:spcPts val="790"/>
              </a:spcBef>
              <a:buFont typeface="Arial"/>
              <a:buChar char="–"/>
              <a:tabLst>
                <a:tab pos="813435" algn="l"/>
              </a:tabLst>
            </a:pPr>
            <a:r>
              <a:rPr dirty="0" sz="3000" spc="-10">
                <a:solidFill>
                  <a:srgbClr val="595959"/>
                </a:solidFill>
                <a:latin typeface="Calibri"/>
                <a:cs typeface="Calibri"/>
              </a:rPr>
              <a:t>Mentorship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83972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Goals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2380" y="1586652"/>
            <a:ext cx="4845472" cy="154671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77192" y="3077464"/>
            <a:ext cx="4899025" cy="193040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3400">
                <a:solidFill>
                  <a:srgbClr val="254061"/>
                </a:solidFill>
                <a:latin typeface="Calibri"/>
                <a:cs typeface="Calibri"/>
              </a:rPr>
              <a:t>Isaac</a:t>
            </a:r>
            <a:r>
              <a:rPr dirty="0" sz="3400" spc="120">
                <a:solidFill>
                  <a:srgbClr val="254061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254061"/>
                </a:solidFill>
                <a:latin typeface="Calibri"/>
                <a:cs typeface="Calibri"/>
              </a:rPr>
              <a:t>Saldana,</a:t>
            </a:r>
            <a:r>
              <a:rPr dirty="0" sz="3400" spc="120">
                <a:solidFill>
                  <a:srgbClr val="254061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254061"/>
                </a:solidFill>
                <a:latin typeface="Calibri"/>
                <a:cs typeface="Calibri"/>
              </a:rPr>
              <a:t>CEO</a:t>
            </a:r>
            <a:endParaRPr sz="3400">
              <a:latin typeface="Calibri"/>
              <a:cs typeface="Calibri"/>
            </a:endParaRPr>
          </a:p>
          <a:p>
            <a:pPr marL="12700" marR="5080">
              <a:lnSpc>
                <a:spcPts val="5020"/>
              </a:lnSpc>
              <a:spcBef>
                <a:spcPts val="95"/>
              </a:spcBef>
            </a:pPr>
            <a:r>
              <a:rPr dirty="0" sz="3400">
                <a:solidFill>
                  <a:srgbClr val="254061"/>
                </a:solidFill>
                <a:latin typeface="Calibri"/>
                <a:cs typeface="Calibri"/>
              </a:rPr>
              <a:t>Email:</a:t>
            </a:r>
            <a:r>
              <a:rPr dirty="0" sz="3400" spc="135">
                <a:solidFill>
                  <a:srgbClr val="254061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254061"/>
                </a:solidFill>
                <a:latin typeface="Calibri"/>
                <a:cs typeface="Calibri"/>
                <a:hlinkClick r:id="rId3"/>
              </a:rPr>
              <a:t>isaac@sendgrid.com</a:t>
            </a:r>
            <a:r>
              <a:rPr dirty="0" sz="3400" spc="-10">
                <a:solidFill>
                  <a:srgbClr val="254061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254061"/>
                </a:solidFill>
                <a:latin typeface="Calibri"/>
                <a:cs typeface="Calibri"/>
              </a:rPr>
              <a:t>Twitter:</a:t>
            </a:r>
            <a:r>
              <a:rPr dirty="0" sz="3400" spc="-135">
                <a:solidFill>
                  <a:srgbClr val="254061"/>
                </a:solidFill>
                <a:latin typeface="Calibri"/>
                <a:cs typeface="Calibri"/>
              </a:rPr>
              <a:t> </a:t>
            </a:r>
            <a:r>
              <a:rPr dirty="0" sz="3400" spc="-10">
                <a:solidFill>
                  <a:srgbClr val="254061"/>
                </a:solidFill>
                <a:latin typeface="Calibri"/>
                <a:cs typeface="Calibri"/>
              </a:rPr>
              <a:t>@isaldana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41587" y="321564"/>
            <a:ext cx="2604770" cy="741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dirty="0" spc="10"/>
              <a:t> </a:t>
            </a:r>
            <a:r>
              <a:rPr dirty="0" spc="-6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5406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2025-05-23T03:16:14Z</dcterms:created>
  <dcterms:modified xsi:type="dcterms:W3CDTF">2025-05-23T03:16:14Z</dcterms:modified>
</cp:coreProperties>
</file>