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F1035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F1035"/>
                </a:solidFill>
                <a:latin typeface="Arial"/>
              </a:rPr>
              <a:t>Portfolio Mix (Current B&amp;C Model)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 %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1035"/>
              </a:solidFill>
              <a:effectLst/>
            </c:spPr>
          </c:dPt>
          <c:dPt>
            <c:idx val="1"/>
            <c:bubble3D val="0"/>
            <c:spPr>
              <a:solidFill>
                <a:srgbClr val="2C4E80"/>
              </a:solidFill>
              <a:effectLst/>
            </c:spPr>
          </c:dPt>
          <c:dPt>
            <c:idx val="2"/>
            <c:bubble3D val="0"/>
            <c:spPr>
              <a:solidFill>
                <a:srgbClr val="C9082A"/>
              </a:solidFill>
              <a:effectLst/>
            </c:spPr>
          </c:dPt>
          <c:dPt>
            <c:idx val="3"/>
            <c:bubble3D val="0"/>
            <c:spPr>
              <a:solidFill>
                <a:srgbClr val="D4A01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Core Loyalists</c:v>
                </c:pt>
                <c:pt idx="1">
                  <c:v>Fashion Walk-ins</c:v>
                </c:pt>
                <c:pt idx="2">
                  <c:v>Fashion Online</c:v>
                </c:pt>
                <c:pt idx="3">
                  <c:v>WF Exclusives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30</c:v>
                </c:pt>
                <c:pt idx="2">
                  <c:v>15</c:v>
                </c:pt>
                <c:pt idx="3">
                  <c:v>15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5A6A82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8F5F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50" b="0" i="0" u="none" strike="noStrike">
                <a:solidFill>
                  <a:srgbClr val="0F1035"/>
                </a:solidFill>
                <a:latin typeface="Arial"/>
              </a:defRPr>
            </a:pPr>
            <a:r>
              <a:rPr sz="950" b="0" i="0" u="none" strike="noStrike">
                <a:solidFill>
                  <a:srgbClr val="0F1035"/>
                </a:solidFill>
                <a:latin typeface="Arial"/>
              </a:rPr>
              <a:t>Average Order Value by Segment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AOV ($)</c:v>
                </c:pt>
              </c:strCache>
            </c:strRef>
          </c:tx>
          <c:spPr>
            <a:solidFill>
              <a:srgbClr val="2C4E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0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4E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4E8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082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Core Loyalists</c:v>
                  </c:pt>
                  <c:pt idx="1">
                    <c:v>Fashion Walk-ins</c:v>
                  </c:pt>
                  <c:pt idx="2">
                    <c:v>Fashion Online</c:v>
                  </c:pt>
                  <c:pt idx="3">
                    <c:v>WF Exclusives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</c:v>
                </c:pt>
                <c:pt idx="1">
                  <c:v>96</c:v>
                </c:pt>
                <c:pt idx="2">
                  <c:v>200</c:v>
                </c:pt>
                <c:pt idx="3">
                  <c:v>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0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5F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50" b="0" i="0" u="none" strike="noStrike">
                <a:solidFill>
                  <a:srgbClr val="0F1035"/>
                </a:solidFill>
                <a:latin typeface="Arial"/>
              </a:defRPr>
            </a:pPr>
            <a:r>
              <a:rPr sz="950" b="0" i="0" u="none" strike="noStrike">
                <a:solidFill>
                  <a:srgbClr val="0F1035"/>
                </a:solidFill>
                <a:latin typeface="Arial"/>
              </a:rPr>
              <a:t>Customer Lifetime Value by Segment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CLV ($)</c:v>
                </c:pt>
              </c:strCache>
            </c:strRef>
          </c:tx>
          <c:spPr>
            <a:solidFill>
              <a:srgbClr val="2C4E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0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4E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A6A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9082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017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Core Loyalists</c:v>
                  </c:pt>
                  <c:pt idx="1">
                    <c:v>Fashion Walk-ins</c:v>
                  </c:pt>
                  <c:pt idx="2">
                    <c:v>Fashion Online</c:v>
                  </c:pt>
                  <c:pt idx="3">
                    <c:v>WF Exclusives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1612</c:v>
                </c:pt>
                <c:pt idx="1">
                  <c:v>51</c:v>
                </c:pt>
                <c:pt idx="2">
                  <c:v>100</c:v>
                </c:pt>
                <c:pt idx="3">
                  <c:v>2103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0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5F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F1035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F1035"/>
                </a:solidFill>
                <a:latin typeface="Arial"/>
              </a:rPr>
              <a:t>Gross Margin Comparison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spPr>
            <a:solidFill>
              <a:srgbClr val="8B9CB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F10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B9CB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082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7A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C4E8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3rd-Party
(Current)</c:v>
                  </c:pt>
                  <c:pt idx="1">
                    <c:v>Private Label
(B&amp;C Target)</c:v>
                  </c:pt>
                  <c:pt idx="2">
                    <c:v>Platform
(Zalando Benchmark)</c:v>
                  </c:pt>
                  <c:pt idx="3">
                    <c:v>Amazon Affiliate
Fee Revenue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50</c:v>
                </c:pt>
                <c:pt idx="2">
                  <c:v>45</c:v>
                </c:pt>
                <c:pt idx="3">
                  <c:v>15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50" u="none">
                  <a:solidFill>
                    <a:srgbClr val="0F10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5F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F1035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F1035"/>
                </a:solidFill>
                <a:latin typeface="Arial"/>
              </a:rPr>
              <a:t>CLV Comparison: B&amp;C vs Platform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B&amp;C Model CLV</c:v>
                </c:pt>
              </c:strCache>
            </c:strRef>
          </c:tx>
          <c:spPr>
            <a:solidFill>
              <a:srgbClr val="2C4E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0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Core Loyalists</c:v>
                  </c:pt>
                  <c:pt idx="1">
                    <c:v>Fashion Online</c:v>
                  </c:pt>
                  <c:pt idx="2">
                    <c:v>WF Exclusives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1612</c:v>
                </c:pt>
                <c:pt idx="1">
                  <c:v>100</c:v>
                </c:pt>
                <c:pt idx="2">
                  <c:v>2103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Platform Model CLV</c:v>
                </c:pt>
              </c:strCache>
            </c:strRef>
          </c:tx>
          <c:spPr>
            <a:solidFill>
              <a:srgbClr val="1A7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0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Core Loyalists</c:v>
                  </c:pt>
                  <c:pt idx="1">
                    <c:v>Fashion Online</c:v>
                  </c:pt>
                  <c:pt idx="2">
                    <c:v>WF Exclusives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1816</c:v>
                </c:pt>
                <c:pt idx="1">
                  <c:v>210</c:v>
                </c:pt>
                <c:pt idx="2">
                  <c:v>3570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F10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8F5F0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0F1035"/>
                </a:solidFill>
                <a:latin typeface="Arial"/>
              </a:defRPr>
            </a:pPr>
            <a:r>
              <a:rPr sz="900" b="0" i="0" u="none" strike="noStrike">
                <a:solidFill>
                  <a:srgbClr val="0F1035"/>
                </a:solidFill>
                <a:latin typeface="Arial"/>
              </a:rPr>
              <a:t>B&amp;C Model Portfolio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1035"/>
              </a:solidFill>
              <a:effectLst/>
            </c:spPr>
          </c:dPt>
          <c:dPt>
            <c:idx val="1"/>
            <c:bubble3D val="0"/>
            <c:spPr>
              <a:solidFill>
                <a:srgbClr val="5A6A82"/>
              </a:solidFill>
              <a:effectLst/>
            </c:spPr>
          </c:dPt>
          <c:dPt>
            <c:idx val="2"/>
            <c:bubble3D val="0"/>
            <c:spPr>
              <a:solidFill>
                <a:srgbClr val="C9082A"/>
              </a:solidFill>
              <a:effectLst/>
            </c:spPr>
          </c:dPt>
          <c:dPt>
            <c:idx val="3"/>
            <c:bubble3D val="0"/>
            <c:spPr>
              <a:solidFill>
                <a:srgbClr val="D4A01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Core Loyalists</c:v>
                </c:pt>
                <c:pt idx="1">
                  <c:v>Fashion Walk-ins</c:v>
                </c:pt>
                <c:pt idx="2">
                  <c:v>Fashion Online</c:v>
                </c:pt>
                <c:pt idx="3">
                  <c:v>WF Exclusives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30</c:v>
                </c:pt>
                <c:pt idx="2">
                  <c:v>15</c:v>
                </c:pt>
                <c:pt idx="3">
                  <c:v>15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solidFill>
      <a:srgbClr val="F8F5F0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0F1035"/>
                </a:solidFill>
                <a:latin typeface="Arial"/>
              </a:defRPr>
            </a:pPr>
            <a:r>
              <a:rPr sz="900" b="0" i="0" u="none" strike="noStrike">
                <a:solidFill>
                  <a:srgbClr val="0F1035"/>
                </a:solidFill>
                <a:latin typeface="Arial"/>
              </a:rPr>
              <a:t>Platform Portfolio (Projected)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1035"/>
              </a:solidFill>
              <a:effectLst/>
            </c:spPr>
          </c:dPt>
          <c:dPt>
            <c:idx val="1"/>
            <c:bubble3D val="0"/>
            <c:spPr>
              <a:solidFill>
                <a:srgbClr val="5A6A82"/>
              </a:solidFill>
              <a:effectLst/>
            </c:spPr>
          </c:dPt>
          <c:dPt>
            <c:idx val="2"/>
            <c:bubble3D val="0"/>
            <c:spPr>
              <a:solidFill>
                <a:srgbClr val="1A7A4A"/>
              </a:solidFill>
              <a:effectLst/>
            </c:spPr>
          </c:dPt>
          <c:dPt>
            <c:idx val="3"/>
            <c:bubble3D val="0"/>
            <c:spPr>
              <a:solidFill>
                <a:srgbClr val="D4A01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Core Loyalists</c:v>
                </c:pt>
                <c:pt idx="1">
                  <c:v>Fashion Walk-ins</c:v>
                </c:pt>
                <c:pt idx="2">
                  <c:v>Fashion Online</c:v>
                </c:pt>
                <c:pt idx="3">
                  <c:v>WF Exclusives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25</c:v>
                </c:pt>
                <c:pt idx="1">
                  <c:v>5</c:v>
                </c:pt>
                <c:pt idx="2">
                  <c:v>55</c:v>
                </c:pt>
                <c:pt idx="3">
                  <c:v>15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solidFill>
      <a:srgbClr val="F8F5F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4" Type="http://schemas.openxmlformats.org/officeDocument/2006/relationships/chart" Target="/ppt/charts/chart7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C9082A"/>
          </a:solidFill>
          <a:ln w="12700">
            <a:solidFill>
              <a:srgbClr val="C908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C4E80">
              <a:alpha val="40000"/>
            </a:srgbClr>
          </a:solidFill>
          <a:ln w="12700">
            <a:solidFill>
              <a:srgbClr val="2C4E8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C9082A">
              <a:alpha val="15000"/>
            </a:srgbClr>
          </a:solidFill>
          <a:ln w="12700">
            <a:solidFill>
              <a:srgbClr val="C9082A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6400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WILDFANG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85800" y="150876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Innovation &amp;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Expansion Analysis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85800" y="2514600"/>
            <a:ext cx="4114800" cy="0"/>
          </a:xfrm>
          <a:prstGeom prst="line">
            <a:avLst/>
          </a:prstGeom>
          <a:noFill/>
          <a:ln w="31750">
            <a:solidFill>
              <a:srgbClr val="C908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889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 Mcilroy, CEO — Wildfang Inc.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Consulting Group  |  Portland, Oregon  |  Summer 2016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4206240"/>
            <a:ext cx="1627632" cy="310896"/>
          </a:xfrm>
          <a:prstGeom prst="rect">
            <a:avLst/>
          </a:prstGeom>
          <a:solidFill>
            <a:srgbClr val="2C4E80"/>
          </a:solidFill>
          <a:ln w="9525">
            <a:solidFill>
              <a:srgbClr val="C908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2062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Canvas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395728" y="4206240"/>
            <a:ext cx="1627632" cy="310896"/>
          </a:xfrm>
          <a:prstGeom prst="rect">
            <a:avLst/>
          </a:prstGeom>
          <a:solidFill>
            <a:srgbClr val="2C4E80"/>
          </a:solidFill>
          <a:ln w="9525">
            <a:solidFill>
              <a:srgbClr val="C908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95728" y="42062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Analysis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105656" y="4206240"/>
            <a:ext cx="1627632" cy="310896"/>
          </a:xfrm>
          <a:prstGeom prst="rect">
            <a:avLst/>
          </a:prstGeom>
          <a:solidFill>
            <a:srgbClr val="2C4E80"/>
          </a:solidFill>
          <a:ln w="9525">
            <a:solidFill>
              <a:srgbClr val="C908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05656" y="42062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Competency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815584" y="4206240"/>
            <a:ext cx="1627632" cy="310896"/>
          </a:xfrm>
          <a:prstGeom prst="rect">
            <a:avLst/>
          </a:prstGeom>
          <a:solidFill>
            <a:srgbClr val="2C4E80"/>
          </a:solidFill>
          <a:ln w="9525">
            <a:solidFill>
              <a:srgbClr val="C908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15584" y="42062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+ Porter's Five Forces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7525512" y="4206240"/>
            <a:ext cx="1627632" cy="310896"/>
          </a:xfrm>
          <a:prstGeom prst="rect">
            <a:avLst/>
          </a:prstGeom>
          <a:solidFill>
            <a:srgbClr val="2C4E80"/>
          </a:solidFill>
          <a:ln w="9525">
            <a:solidFill>
              <a:srgbClr val="C908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25512" y="4206240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9082A"/>
          </a:solidFill>
          <a:ln w="12700">
            <a:solidFill>
              <a:srgbClr val="C908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6350">
            <a:solidFill>
              <a:srgbClr val="D8DD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868680"/>
            <a:ext cx="1572768" cy="841248"/>
          </a:xfrm>
          <a:prstGeom prst="rect">
            <a:avLst/>
          </a:prstGeom>
          <a:solidFill>
            <a:srgbClr val="0F1035"/>
          </a:solidFill>
          <a:ln w="12700">
            <a:solidFill>
              <a:srgbClr val="0F103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88696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0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$2M+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47472" y="130759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(June 2015)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48256" y="868680"/>
            <a:ext cx="1572768" cy="841248"/>
          </a:xfrm>
          <a:prstGeom prst="rect">
            <a:avLst/>
          </a:prstGeom>
          <a:solidFill>
            <a:srgbClr val="0F1035"/>
          </a:solidFill>
          <a:ln w="12700">
            <a:solidFill>
              <a:srgbClr val="0F103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48256" y="88696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0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048256" y="130759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Revenue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749040" y="868680"/>
            <a:ext cx="1572768" cy="841248"/>
          </a:xfrm>
          <a:prstGeom prst="rect">
            <a:avLst/>
          </a:prstGeom>
          <a:solidFill>
            <a:srgbClr val="0F1035"/>
          </a:solidFill>
          <a:ln w="12700">
            <a:solidFill>
              <a:srgbClr val="0F103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9040" y="88696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0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120K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49040" y="130759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Enthusiasts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49824" y="868680"/>
            <a:ext cx="1572768" cy="841248"/>
          </a:xfrm>
          <a:prstGeom prst="rect">
            <a:avLst/>
          </a:prstGeom>
          <a:solidFill>
            <a:srgbClr val="0F1035"/>
          </a:solidFill>
          <a:ln w="12700">
            <a:solidFill>
              <a:srgbClr val="0F103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49824" y="88696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0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49824" y="130759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Loyalist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150608" y="868680"/>
            <a:ext cx="1572768" cy="841248"/>
          </a:xfrm>
          <a:prstGeom prst="rect">
            <a:avLst/>
          </a:prstGeom>
          <a:solidFill>
            <a:srgbClr val="0F1035"/>
          </a:solidFill>
          <a:ln w="12700">
            <a:solidFill>
              <a:srgbClr val="0F103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50608" y="886968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0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$2.2M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150608" y="130759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Funding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47472" y="1874520"/>
            <a:ext cx="393192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" y="1874520"/>
            <a:ext cx="64008" cy="1298448"/>
          </a:xfrm>
          <a:prstGeom prst="rect">
            <a:avLst/>
          </a:prstGeom>
          <a:solidFill>
            <a:srgbClr val="2C4E80"/>
          </a:solidFill>
          <a:ln w="12700">
            <a:solidFill>
              <a:srgbClr val="2C4E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1947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2221992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Wildfang has built a cult brand around the tomboy identity with strong organic growth, 120K followers, and 2 Portland stores — now at a critical national expansion juncture.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0" y="1874520"/>
            <a:ext cx="393192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1874520"/>
            <a:ext cx="64008" cy="1298448"/>
          </a:xfrm>
          <a:prstGeom prst="rect">
            <a:avLst/>
          </a:prstGeom>
          <a:solidFill>
            <a:srgbClr val="C47A15"/>
          </a:solidFill>
          <a:ln w="12700">
            <a:solidFill>
              <a:srgbClr val="C47A1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27448" y="1947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27448" y="2221992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divergent business models create a strategic fork: (1) capital-heavy Private Label B&amp;C retail or (2) asset-light Multisided Platform. Each implies radically different capabilities and risk profiles.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7472" y="3291840"/>
            <a:ext cx="393192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7472" y="3291840"/>
            <a:ext cx="64008" cy="129844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364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(Recommendation)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3639312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Pursue a Hybrid Platform-Led Expansion — scale the community-side via a multisided platform while maintaining selective private label (≤30%) to protect margins and brand authenticity.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0" y="3291840"/>
            <a:ext cx="393192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0" y="3291840"/>
            <a:ext cx="64008" cy="1298448"/>
          </a:xfrm>
          <a:prstGeom prst="rect">
            <a:avLst/>
          </a:prstGeom>
          <a:solidFill>
            <a:srgbClr val="C9082A"/>
          </a:solidFill>
          <a:ln w="12700">
            <a:solidFill>
              <a:srgbClr val="C908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27448" y="3364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Implication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27448" y="3639312"/>
            <a:ext cx="3657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model offers 3× scalability, lower CapEx, and leverages Wildfang's true core competency: community building. Unit economics favor Exclusives &amp; Online segments as growth drivers.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1035"/>
          </a:solidFill>
          <a:ln w="12700">
            <a:solidFill>
              <a:srgbClr val="0F10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WILDFANG — STRATEGIC ANALYSIS  |  CONFIDENTIAL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8046720" y="490118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9082A"/>
          </a:solidFill>
          <a:ln w="12700">
            <a:solidFill>
              <a:srgbClr val="C908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Overview — The Wildfang Story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6350">
            <a:solidFill>
              <a:srgbClr val="D8DD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005840"/>
            <a:ext cx="8449056" cy="64008"/>
          </a:xfrm>
          <a:prstGeom prst="rect">
            <a:avLst/>
          </a:prstGeom>
          <a:solidFill>
            <a:srgbClr val="2C4E80"/>
          </a:solidFill>
          <a:ln w="12700">
            <a:solidFill>
              <a:srgbClr val="2C4E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877824"/>
            <a:ext cx="292608" cy="292608"/>
          </a:xfrm>
          <a:prstGeom prst="ellipse">
            <a:avLst/>
          </a:prstGeom>
          <a:solidFill>
            <a:srgbClr val="C9082A"/>
          </a:solidFill>
          <a:ln w="12700">
            <a:solidFill>
              <a:srgbClr val="C908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234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38912" y="15361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Nike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108960" y="877824"/>
            <a:ext cx="292608" cy="292608"/>
          </a:xfrm>
          <a:prstGeom prst="ellipse">
            <a:avLst/>
          </a:prstGeom>
          <a:solidFill>
            <a:srgbClr val="C9082A"/>
          </a:solidFill>
          <a:ln w="12700">
            <a:solidFill>
              <a:srgbClr val="C908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24912" y="1234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42032" y="15361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+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 Store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$2.2M raised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212080" y="877824"/>
            <a:ext cx="292608" cy="292608"/>
          </a:xfrm>
          <a:prstGeom prst="ellipse">
            <a:avLst/>
          </a:prstGeom>
          <a:solidFill>
            <a:srgbClr val="C9082A"/>
          </a:solidFill>
          <a:ln w="12700">
            <a:solidFill>
              <a:srgbClr val="C908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1234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45152" y="15361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$2M+ rev.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250% growth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120K fans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315200" y="877824"/>
            <a:ext cx="292608" cy="292608"/>
          </a:xfrm>
          <a:prstGeom prst="ellipse">
            <a:avLst/>
          </a:prstGeom>
          <a:solidFill>
            <a:srgbClr val="C9082A"/>
          </a:solidFill>
          <a:ln w="12700">
            <a:solidFill>
              <a:srgbClr val="C908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31152" y="1234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748272" y="15361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Outpost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Opens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Plan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418320" y="877824"/>
            <a:ext cx="292608" cy="292608"/>
          </a:xfrm>
          <a:prstGeom prst="ellipse">
            <a:avLst/>
          </a:prstGeom>
          <a:solidFill>
            <a:srgbClr val="C9082A"/>
          </a:solidFill>
          <a:ln w="12700">
            <a:solidFill>
              <a:srgbClr val="C908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34272" y="1234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851392" y="15361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Point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47472" y="2212848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212848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by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645920" y="22128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 Mcilroy &amp; Julia Parsley — ex-Nike executives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2734056"/>
            <a:ext cx="4206240" cy="457200"/>
          </a:xfrm>
          <a:prstGeom prst="rect">
            <a:avLst/>
          </a:prstGeom>
          <a:solidFill>
            <a:srgbClr val="F0EDE8"/>
          </a:solidFill>
          <a:ln w="6350">
            <a:solidFill>
              <a:srgbClr val="D8DD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734056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Identity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645920" y="273405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Home of Tomboy Style" — badass, rebel, feminine strength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7472" y="3255264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255264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645920" y="325526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Currently: Third-party curation (35% GM) + limited private label (50% GM+)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47472" y="3776472"/>
            <a:ext cx="4206240" cy="457200"/>
          </a:xfrm>
          <a:prstGeom prst="rect">
            <a:avLst/>
          </a:prstGeom>
          <a:solidFill>
            <a:srgbClr val="F0EDE8"/>
          </a:solidFill>
          <a:ln w="6350">
            <a:solidFill>
              <a:srgbClr val="D8DD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776472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645920" y="377647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+ 2 Portland B&amp;M stores (Fort &amp; Outpost)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47472" y="4297680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29768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645920" y="42976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Primarily organic, influencer &amp; earned media — no paid media first 18 months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81728" y="2212848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91456" y="2212848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Celebrity Backing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980176" y="22128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Ellen Page, Kate Mara, Evan Rachel Wood, Megan Rapinoe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681728" y="2734056"/>
            <a:ext cx="4206240" cy="457200"/>
          </a:xfrm>
          <a:prstGeom prst="rect">
            <a:avLst/>
          </a:prstGeom>
          <a:solidFill>
            <a:srgbClr val="F0EDE8"/>
          </a:solidFill>
          <a:ln w="6350">
            <a:solidFill>
              <a:srgbClr val="D8DD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91456" y="2734056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980176" y="273405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22,000 sign-ups within 30 days of launch video — pre-product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81728" y="3255264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91456" y="3255264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Options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980176" y="325526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Private Label B&amp;C expansion or (2) Multisided Platform pivot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681728" y="3776472"/>
            <a:ext cx="4206240" cy="457200"/>
          </a:xfrm>
          <a:prstGeom prst="rect">
            <a:avLst/>
          </a:prstGeom>
          <a:solidFill>
            <a:srgbClr val="F0EDE8"/>
          </a:solidFill>
          <a:ln w="6350">
            <a:solidFill>
              <a:srgbClr val="D8DD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91456" y="3776472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B&amp;C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980176" y="377647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Lululemon — ~50% gross margin target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681728" y="4297680"/>
            <a:ext cx="4206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91456" y="429768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Benchmark: Platform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980176" y="42976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Zalando — 45% gross margin; Amazon — 15% affiliate fee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1035"/>
          </a:solidFill>
          <a:ln w="12700">
            <a:solidFill>
              <a:srgbClr val="0F103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WILDFANG — STRATEGIC ANALYSIS  |  CONFIDENTIAL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8046720" y="490118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9082A"/>
          </a:solidFill>
          <a:ln w="12700">
            <a:solidFill>
              <a:srgbClr val="C908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Needs Analysis — Functional, Emotional &amp; Social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6350">
            <a:solidFill>
              <a:srgbClr val="D8DD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868680"/>
            <a:ext cx="2706624" cy="658368"/>
          </a:xfrm>
          <a:prstGeom prst="rect">
            <a:avLst/>
          </a:prstGeom>
          <a:solidFill>
            <a:srgbClr val="2C4E80"/>
          </a:solidFill>
          <a:ln w="12700">
            <a:solidFill>
              <a:srgbClr val="2C4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96112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NEEDS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" y="1252728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she needs to DO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47472" y="1554480"/>
            <a:ext cx="2706624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2C4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91056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Menswear-inspired clothing that actually fits a woman's body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048256"/>
            <a:ext cx="2487168" cy="0"/>
          </a:xfrm>
          <a:prstGeom prst="line">
            <a:avLst/>
          </a:prstGeom>
          <a:noFill/>
          <a:ln w="5080">
            <a:solidFill>
              <a:srgbClr val="D8DD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48256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Access to curated, on-trend tomboy silhouettes in one place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505456"/>
            <a:ext cx="2487168" cy="0"/>
          </a:xfrm>
          <a:prstGeom prst="line">
            <a:avLst/>
          </a:prstGeom>
          <a:noFill/>
          <a:ln w="5080">
            <a:solidFill>
              <a:srgbClr val="D8DD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05456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Range across price points: T-shirts (~$50), jeans (~$150), sweaters ($100s)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962656"/>
            <a:ext cx="2487168" cy="0"/>
          </a:xfrm>
          <a:prstGeom prst="line">
            <a:avLst/>
          </a:prstGeom>
          <a:noFill/>
          <a:ln w="5080">
            <a:solidFill>
              <a:srgbClr val="D8DD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62656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Convenient online + in-store purchasing and returns (B&amp;C model)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3419856"/>
            <a:ext cx="2487168" cy="0"/>
          </a:xfrm>
          <a:prstGeom prst="line">
            <a:avLst/>
          </a:prstGeom>
          <a:noFill/>
          <a:ln w="5080">
            <a:solidFill>
              <a:srgbClr val="D8DD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19856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Reliable product quality and consistent sizing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3977640"/>
            <a:ext cx="2706624" cy="731520"/>
          </a:xfrm>
          <a:prstGeom prst="rect">
            <a:avLst/>
          </a:prstGeom>
          <a:solidFill>
            <a:srgbClr val="2C4E80">
              <a:alpha val="12000"/>
            </a:srgbClr>
          </a:solidFill>
          <a:ln w="9525">
            <a:solidFill>
              <a:srgbClr val="2C4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99592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38912" y="417880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Wildfang directly solved a product-market gap: no retailer offered menswear-inspired clothing made for women's bodies.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172968" y="868680"/>
            <a:ext cx="2706624" cy="658368"/>
          </a:xfrm>
          <a:prstGeom prst="rect">
            <a:avLst/>
          </a:prstGeom>
          <a:solidFill>
            <a:srgbClr val="C9082A"/>
          </a:solidFill>
          <a:ln w="12700">
            <a:solidFill>
              <a:srgbClr val="C908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72968" y="896112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NEEDS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172968" y="1252728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she needs to FEEL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172968" y="1554480"/>
            <a:ext cx="2706624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C908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82696" y="1591056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Confident, empowered, and unapologetically herself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82696" y="2048256"/>
            <a:ext cx="2487168" cy="0"/>
          </a:xfrm>
          <a:prstGeom prst="line">
            <a:avLst/>
          </a:prstGeom>
          <a:noFill/>
          <a:ln w="5080">
            <a:solidFill>
              <a:srgbClr val="D8DD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82696" y="2048256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Part of something bigger — a tribe with shared values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82696" y="2505456"/>
            <a:ext cx="2487168" cy="0"/>
          </a:xfrm>
          <a:prstGeom prst="line">
            <a:avLst/>
          </a:prstGeom>
          <a:noFill/>
          <a:ln w="5080">
            <a:solidFill>
              <a:srgbClr val="D8DD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82696" y="2505456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Validated for her identity (tomboy spectrum is inclusive)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82696" y="2962656"/>
            <a:ext cx="2487168" cy="0"/>
          </a:xfrm>
          <a:prstGeom prst="line">
            <a:avLst/>
          </a:prstGeom>
          <a:noFill/>
          <a:ln w="5080">
            <a:solidFill>
              <a:srgbClr val="D8DD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82696" y="2962656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Inspired by bold, authentic role models (Megan Rapinoe, Kate Mara)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82696" y="3419856"/>
            <a:ext cx="2487168" cy="0"/>
          </a:xfrm>
          <a:prstGeom prst="line">
            <a:avLst/>
          </a:prstGeom>
          <a:noFill/>
          <a:ln w="5080">
            <a:solidFill>
              <a:srgbClr val="D8DD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82696" y="3419856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Excitement of 'pilgrimage' shopping — store as experience, not transaction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172968" y="3977640"/>
            <a:ext cx="2706624" cy="731520"/>
          </a:xfrm>
          <a:prstGeom prst="rect">
            <a:avLst/>
          </a:prstGeom>
          <a:solidFill>
            <a:srgbClr val="C9082A">
              <a:alpha val="12000"/>
            </a:srgbClr>
          </a:solidFill>
          <a:ln w="9525">
            <a:solidFill>
              <a:srgbClr val="C908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64408" y="399592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90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264408" y="417880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Fans get Wildfang tattoos and write handwritten letters — this is identity-level emotional bonding, not transactional loyalty.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998464" y="868680"/>
            <a:ext cx="2706624" cy="65836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98464" y="896112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NEEDS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98464" y="1252728"/>
            <a:ext cx="2706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she needs to BELONG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98464" y="1554480"/>
            <a:ext cx="2706624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08192" y="1591056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Visible membership in a progressive, badass community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108192" y="2048256"/>
            <a:ext cx="2487168" cy="0"/>
          </a:xfrm>
          <a:prstGeom prst="line">
            <a:avLst/>
          </a:prstGeom>
          <a:noFill/>
          <a:ln w="5080">
            <a:solidFill>
              <a:srgbClr val="D8DD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08192" y="2048256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Shared language and aesthetics to signal identity to others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108192" y="2505456"/>
            <a:ext cx="2487168" cy="0"/>
          </a:xfrm>
          <a:prstGeom prst="line">
            <a:avLst/>
          </a:prstGeom>
          <a:noFill/>
          <a:ln w="5080">
            <a:solidFill>
              <a:srgbClr val="D8DD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08192" y="2505456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Social media content that reflects her values (#Gameface, Manifesto)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08192" y="2962656"/>
            <a:ext cx="2487168" cy="0"/>
          </a:xfrm>
          <a:prstGeom prst="line">
            <a:avLst/>
          </a:prstGeom>
          <a:noFill/>
          <a:ln w="5080">
            <a:solidFill>
              <a:srgbClr val="D8DD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08192" y="2962656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Association with culturally relevant influencers and movements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108192" y="3419856"/>
            <a:ext cx="2487168" cy="0"/>
          </a:xfrm>
          <a:prstGeom prst="line">
            <a:avLst/>
          </a:prstGeom>
          <a:noFill/>
          <a:ln w="5080">
            <a:solidFill>
              <a:srgbClr val="D8DD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08192" y="3419856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Platform to connect with 'sisters' across geographies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998464" y="3977640"/>
            <a:ext cx="2706624" cy="731520"/>
          </a:xfrm>
          <a:prstGeom prst="rect">
            <a:avLst/>
          </a:prstGeom>
          <a:solidFill>
            <a:srgbClr val="D4A017">
              <a:alpha val="12000"/>
            </a:srgbClr>
          </a:solidFill>
          <a:ln w="9525">
            <a:solidFill>
              <a:srgbClr val="D4A01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89904" y="399592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089904" y="417880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Wildfang Manifesto &amp; 'Welcome to the Family' video created a social identity, not just a shopping brand.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1035"/>
          </a:solidFill>
          <a:ln w="12700">
            <a:solidFill>
              <a:srgbClr val="0F103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WILDFANG — STRATEGIC ANALYSIS  |  CONFIDENTIAL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8046720" y="490118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9082A"/>
          </a:solidFill>
          <a:ln w="12700">
            <a:solidFill>
              <a:srgbClr val="C908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Canvas — Wildfang Current Operations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6350">
            <a:solidFill>
              <a:srgbClr val="D8DD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1572768" cy="2606040"/>
          </a:xfrm>
          <a:prstGeom prst="rect">
            <a:avLst/>
          </a:prstGeom>
          <a:solidFill>
            <a:srgbClr val="2C4E8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960120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PARTNERS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329184" y="1161288"/>
            <a:ext cx="148132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Nike alumni network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3rd-party brand vendors (NA + EU)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Celebrity &amp; influencer partners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Social media platforms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Fabric/mfg suppliers (private label)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VC investors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883664" y="914400"/>
            <a:ext cx="1572768" cy="1261872"/>
          </a:xfrm>
          <a:prstGeom prst="rect">
            <a:avLst/>
          </a:prstGeom>
          <a:solidFill>
            <a:srgbClr val="1E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38528" y="960120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938528" y="1161288"/>
            <a:ext cx="14813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Brand building &amp; content creation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Merchandise curation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Community management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Retail store experience design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E-commerce operations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493008" y="914400"/>
            <a:ext cx="2157984" cy="2606040"/>
          </a:xfrm>
          <a:prstGeom prst="rect">
            <a:avLst/>
          </a:prstGeom>
          <a:solidFill>
            <a:srgbClr val="C908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47872" y="960120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3547872" y="1161288"/>
            <a:ext cx="206654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Menswear-inspired fashion for women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Badass Tomboy identity &amp; community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Curated discovery in one destination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Emotional belonging &amp; validation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Aspirational role-model content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"Feel a helluva lot more comfortable shopping with us"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687568" y="914400"/>
            <a:ext cx="1572768" cy="1261872"/>
          </a:xfrm>
          <a:prstGeom prst="rect">
            <a:avLst/>
          </a:prstGeom>
          <a:solidFill>
            <a:srgbClr val="1E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42432" y="960120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RELATIONSHIPS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5742432" y="1161288"/>
            <a:ext cx="148132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Earned media (no paid — 18 months)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Community-driven social content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Personal stylist service (Exclusives)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Email + event invitations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Referral via Core Loyalist network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7296912" y="914400"/>
            <a:ext cx="1572768" cy="2606040"/>
          </a:xfrm>
          <a:prstGeom prst="rect">
            <a:avLst/>
          </a:prstGeom>
          <a:solidFill>
            <a:srgbClr val="2C4E8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51776" y="960120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7351776" y="1161288"/>
            <a:ext cx="148132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Core Loyalists (40%) — $68 AOV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Fashion Walk-ins (30%) — $96 AOV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Fashion Online (15%) — $200 AOV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Wildfang Exclusives (15%) — $400+ AOV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Secondary: Indie artists, athletes, creatives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883664" y="2212848"/>
            <a:ext cx="1572768" cy="1307592"/>
          </a:xfrm>
          <a:prstGeom prst="rect">
            <a:avLst/>
          </a:prstGeom>
          <a:solidFill>
            <a:srgbClr val="1E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38528" y="225856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RESOURCES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938528" y="2459736"/>
            <a:ext cx="148132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Brand equity &amp; manifesto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120K community base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Founder Nike expertise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Social media content engine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 Portland retail locations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687568" y="2212848"/>
            <a:ext cx="1572768" cy="1307592"/>
          </a:xfrm>
          <a:prstGeom prst="rect">
            <a:avLst/>
          </a:prstGeom>
          <a:solidFill>
            <a:srgbClr val="1E3A5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42432" y="2258568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5742432" y="2459736"/>
            <a:ext cx="1481328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E-commerce site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Wildfang Fort (destination)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Wildfang Outpost (walk-in)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Instagram / Blog / Video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Email &amp; influencer marketing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74320" y="3557016"/>
            <a:ext cx="4169664" cy="960120"/>
          </a:xfrm>
          <a:prstGeom prst="rect">
            <a:avLst/>
          </a:prstGeom>
          <a:solidFill>
            <a:srgbClr val="5A6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" y="3602736"/>
            <a:ext cx="4078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329184" y="3803904"/>
            <a:ext cx="4078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Inventory + COGS (3rd-party ~65% of revenue, private label ~50%)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Retail leases + store ops (Portland × 2)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Marketing &amp; content creation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Headcount: buying, merchandising, fulfillment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480560" y="3557016"/>
            <a:ext cx="4389120" cy="960120"/>
          </a:xfrm>
          <a:prstGeom prst="rect">
            <a:avLst/>
          </a:prstGeom>
          <a:solidFill>
            <a:srgbClr val="5A6A8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35424" y="3602736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4535424" y="3803904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Product sales (3rd-party merchandise — majority)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Limited private label product sales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Potential future: affiliate commissions, platform fees, events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1035"/>
          </a:solidFill>
          <a:ln w="12700">
            <a:solidFill>
              <a:srgbClr val="0F10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WILDFANG — STRATEGIC ANALYSIS  |  CONFIDENTIAL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8046720" y="490118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9082A"/>
          </a:solidFill>
          <a:ln w="12700">
            <a:solidFill>
              <a:srgbClr val="C908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— Portfolio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6350">
            <a:solidFill>
              <a:srgbClr val="D8DDE8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34747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60120"/>
          <a:ext cx="5120640" cy="1920240"/>
        </p:xfrm>
        <a:graphic>
          <a:graphicData uri="http://schemas.openxmlformats.org/drawingml/2006/table">
            <a:tbl>
              <a:tblPr/>
              <a:tblGrid>
                <a:gridCol w="1691640"/>
                <a:gridCol w="475488"/>
                <a:gridCol w="594360"/>
                <a:gridCol w="1188720"/>
                <a:gridCol w="548640"/>
                <a:gridCol w="502920"/>
                <a:gridCol w="10515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Segment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Mix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AOV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Frequency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Churn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CAC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Channel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03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035"/>
                          </a:solidFill>
                        </a:rPr>
                        <a:t>Core Loyalists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035"/>
                          </a:solidFill>
                        </a:rPr>
                        <a:t>40%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3A5F"/>
                          </a:solidFill>
                        </a:rPr>
                        <a:t>$68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035"/>
                          </a:solidFill>
                        </a:rPr>
                        <a:t>6×/yr (bi-monthly)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9082A"/>
                          </a:solidFill>
                        </a:rPr>
                        <a:t>10%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035"/>
                          </a:solidFill>
                        </a:rPr>
                        <a:t>$20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035"/>
                          </a:solidFill>
                        </a:rPr>
                        <a:t>Social/Referral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035"/>
                          </a:solidFill>
                        </a:rPr>
                        <a:t>Fashion Walk-ins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035"/>
                          </a:solidFill>
                        </a:rPr>
                        <a:t>30%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3A5F"/>
                          </a:solidFill>
                        </a:rPr>
                        <a:t>$96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035"/>
                          </a:solidFill>
                        </a:rPr>
                        <a:t>1.2×/yr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9082A"/>
                          </a:solidFill>
                        </a:rPr>
                        <a:t>75%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035"/>
                          </a:solidFill>
                        </a:rPr>
                        <a:t>$10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035"/>
                          </a:solidFill>
                        </a:rPr>
                        <a:t>Foot traffic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035"/>
                          </a:solidFill>
                        </a:rPr>
                        <a:t>Fashion Online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035"/>
                          </a:solidFill>
                        </a:rPr>
                        <a:t>15%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3A5F"/>
                          </a:solidFill>
                        </a:rPr>
                        <a:t>$200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035"/>
                          </a:solidFill>
                        </a:rPr>
                        <a:t>1.4×/yr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9082A"/>
                          </a:solidFill>
                        </a:rPr>
                        <a:t>70%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035"/>
                          </a:solidFill>
                        </a:rPr>
                        <a:t>$60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035"/>
                          </a:solidFill>
                        </a:rPr>
                        <a:t>Google AdWords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F1035"/>
                          </a:solidFill>
                        </a:rPr>
                        <a:t>WF Exclusives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035"/>
                          </a:solidFill>
                        </a:rPr>
                        <a:t>15%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E3A5F"/>
                          </a:solidFill>
                        </a:rPr>
                        <a:t>$400+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035"/>
                          </a:solidFill>
                        </a:rPr>
                        <a:t>4×/yr (seasonal)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9082A"/>
                          </a:solidFill>
                        </a:rPr>
                        <a:t>30%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035"/>
                          </a:solidFill>
                        </a:rPr>
                        <a:t>$30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F1035"/>
                          </a:solidFill>
                        </a:rPr>
                        <a:t>Earned + In-store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3840480" y="2926080"/>
            <a:ext cx="5120640" cy="1115568"/>
          </a:xfrm>
          <a:prstGeom prst="rect">
            <a:avLst/>
          </a:prstGeom>
          <a:solidFill>
            <a:srgbClr val="0F1035"/>
          </a:solidFill>
          <a:ln w="12700">
            <a:solidFill>
              <a:srgbClr val="0F103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4005072" y="297180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90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4005072" y="3200400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Wildfang Exclusives (15%) deliver 6–10× higher AOV vs Core Loyalists — highest revenue-per-customer despite smallest share.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4005072" y="3474720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Core Loyalists (40%) are retention champions (90%) and low-CAC referral engines — the brand's community backbone.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4005072" y="3749040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Fashion Online (15%) = highest CAC ($60) but strongest AOV ($200) — profitable if churn is addressed.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1035"/>
          </a:solidFill>
          <a:ln w="12700">
            <a:solidFill>
              <a:srgbClr val="0F103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576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WILDFANG — STRATEGIC ANALYSIS  |  CONFIDENTIAL</a:t>
            </a:r>
            <a:endParaRPr lang="en-US" sz="650" dirty="0"/>
          </a:p>
        </p:txBody>
      </p:sp>
      <p:sp>
        <p:nvSpPr>
          <p:cNvPr id="14" name="Text 10"/>
          <p:cNvSpPr/>
          <p:nvPr/>
        </p:nvSpPr>
        <p:spPr>
          <a:xfrm>
            <a:off x="8046720" y="490118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9082A"/>
          </a:solidFill>
          <a:ln w="12700">
            <a:solidFill>
              <a:srgbClr val="C908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&amp; Customer Lifetime Value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6350">
            <a:solidFill>
              <a:srgbClr val="D8DD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2296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 = (AOV × Annual Frequency × Gross Margin %) ÷ Churn Rate  −  CAC   |   GM Assumption: 40% blended (current model)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78992"/>
          <a:ext cx="40233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389120" y="1078992"/>
          <a:ext cx="448056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3200400"/>
            <a:ext cx="2048256" cy="1481328"/>
          </a:xfrm>
          <a:prstGeom prst="rect">
            <a:avLst/>
          </a:prstGeom>
          <a:solidFill>
            <a:srgbClr val="FFFFFF"/>
          </a:solidFill>
          <a:ln w="19050">
            <a:solidFill>
              <a:srgbClr val="2C4E8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274320" y="3200400"/>
            <a:ext cx="2048256" cy="274320"/>
          </a:xfrm>
          <a:prstGeom prst="rect">
            <a:avLst/>
          </a:prstGeom>
          <a:solidFill>
            <a:srgbClr val="2C4E80"/>
          </a:solidFill>
          <a:ln w="12700">
            <a:solidFill>
              <a:srgbClr val="2C4E8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74320" y="320040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Loyalists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365760" y="351129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1188720" y="351129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$1,612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65760" y="38862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1188720" y="38862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65760" y="426110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CLV:CAC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1188720" y="426110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81×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450592" y="3200400"/>
            <a:ext cx="2048256" cy="1481328"/>
          </a:xfrm>
          <a:prstGeom prst="rect">
            <a:avLst/>
          </a:prstGeom>
          <a:solidFill>
            <a:srgbClr val="FFFFFF"/>
          </a:solidFill>
          <a:ln w="19050">
            <a:solidFill>
              <a:srgbClr val="5A6A82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450592" y="3200400"/>
            <a:ext cx="2048256" cy="274320"/>
          </a:xfrm>
          <a:prstGeom prst="rect">
            <a:avLst/>
          </a:prstGeom>
          <a:solidFill>
            <a:srgbClr val="5A6A82"/>
          </a:solidFill>
          <a:ln w="12700">
            <a:solidFill>
              <a:srgbClr val="5A6A8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450592" y="320040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Walk-ins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2542032" y="351129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3364992" y="351129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$51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2542032" y="38862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3364992" y="38862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2542032" y="426110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CLV:CAC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3364992" y="426110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626864" y="3200400"/>
            <a:ext cx="2048256" cy="1481328"/>
          </a:xfrm>
          <a:prstGeom prst="rect">
            <a:avLst/>
          </a:prstGeom>
          <a:solidFill>
            <a:srgbClr val="FFFFFF"/>
          </a:solidFill>
          <a:ln w="19050">
            <a:solidFill>
              <a:srgbClr val="C9082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626864" y="3200400"/>
            <a:ext cx="2048256" cy="274320"/>
          </a:xfrm>
          <a:prstGeom prst="rect">
            <a:avLst/>
          </a:prstGeom>
          <a:solidFill>
            <a:srgbClr val="C9082A"/>
          </a:solidFill>
          <a:ln w="12700">
            <a:solidFill>
              <a:srgbClr val="C9082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626864" y="320040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Online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4718304" y="351129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5541264" y="351129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0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4718304" y="38862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5541264" y="38862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0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4718304" y="426110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CLV:CAC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5541264" y="426110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0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1.7×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6803136" y="3200400"/>
            <a:ext cx="2048256" cy="1481328"/>
          </a:xfrm>
          <a:prstGeom prst="rect">
            <a:avLst/>
          </a:prstGeom>
          <a:solidFill>
            <a:srgbClr val="FFFFFF"/>
          </a:solidFill>
          <a:ln w="19050">
            <a:solidFill>
              <a:srgbClr val="D4A017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6803136" y="3200400"/>
            <a:ext cx="2048256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803136" y="3200400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 Exclusives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6894576" y="3511296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7717536" y="351129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$2,103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6894576" y="3886200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7717536" y="388620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894576" y="4261104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CLV:CAC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7717536" y="426110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70×</a:t>
            </a:r>
            <a:endParaRPr lang="en-US" sz="1000" dirty="0"/>
          </a:p>
        </p:txBody>
      </p:sp>
      <p:sp>
        <p:nvSpPr>
          <p:cNvPr id="44" name="Shape 4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1035"/>
          </a:solidFill>
          <a:ln w="12700">
            <a:solidFill>
              <a:srgbClr val="0F1035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576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WILDFANG — STRATEGIC ANALYSIS  |  CONFIDENTIAL</a:t>
            </a:r>
            <a:endParaRPr lang="en-US" sz="650" dirty="0"/>
          </a:p>
        </p:txBody>
      </p:sp>
      <p:sp>
        <p:nvSpPr>
          <p:cNvPr id="46" name="Text 42"/>
          <p:cNvSpPr/>
          <p:nvPr/>
        </p:nvSpPr>
        <p:spPr>
          <a:xfrm>
            <a:off x="8046720" y="490118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9082A"/>
          </a:solidFill>
          <a:ln w="12700">
            <a:solidFill>
              <a:srgbClr val="C908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 or Long-Term? — Positioning Durability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6350">
            <a:solidFill>
              <a:srgbClr val="D8DD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8595360" cy="4572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LONG-TERM POSITIONING — Not a fad. Tomboy identity is culturally rooted, value-driven, and anchored in a growing demographic.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426464"/>
            <a:ext cx="4251960" cy="347472"/>
          </a:xfrm>
          <a:prstGeom prst="rect">
            <a:avLst/>
          </a:prstGeom>
          <a:solidFill>
            <a:srgbClr val="C47A15"/>
          </a:solidFill>
          <a:ln w="12700">
            <a:solidFill>
              <a:srgbClr val="C47A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2646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INDICATORS OF A FAD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801368"/>
            <a:ext cx="4251960" cy="448056"/>
          </a:xfrm>
          <a:prstGeom prst="rect">
            <a:avLst/>
          </a:prstGeom>
          <a:solidFill>
            <a:srgbClr val="FFFFFF"/>
          </a:solidFill>
          <a:ln w="5080">
            <a:solidFill>
              <a:srgbClr val="D8DD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801368"/>
            <a:ext cx="40416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"Tomboy" label is trend-sensitive; media could lose interest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2276856"/>
            <a:ext cx="4251960" cy="448056"/>
          </a:xfrm>
          <a:prstGeom prst="rect">
            <a:avLst/>
          </a:prstGeom>
          <a:solidFill>
            <a:srgbClr val="F5F2ED"/>
          </a:solidFill>
          <a:ln w="5080">
            <a:solidFill>
              <a:srgbClr val="D8DD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276856"/>
            <a:ext cx="40416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Other niche retailers have targeted androgyny/sexuality, reducing broader market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2752344"/>
            <a:ext cx="4251960" cy="448056"/>
          </a:xfrm>
          <a:prstGeom prst="rect">
            <a:avLst/>
          </a:prstGeom>
          <a:solidFill>
            <a:srgbClr val="FFFFFF"/>
          </a:solidFill>
          <a:ln w="5080">
            <a:solidFill>
              <a:srgbClr val="D8DD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752344"/>
            <a:ext cx="40416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Current revenue ($2M) is still small-scale; community hasn't converted at scale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3227832"/>
            <a:ext cx="4251960" cy="448056"/>
          </a:xfrm>
          <a:prstGeom prst="rect">
            <a:avLst/>
          </a:prstGeom>
          <a:solidFill>
            <a:srgbClr val="F5F2ED"/>
          </a:solidFill>
          <a:ln w="5080">
            <a:solidFill>
              <a:srgbClr val="D8DD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227832"/>
            <a:ext cx="40416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Heavy reliance on organic/earned media is hard to sustain at scale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3703320"/>
            <a:ext cx="4251960" cy="448056"/>
          </a:xfrm>
          <a:prstGeom prst="rect">
            <a:avLst/>
          </a:prstGeom>
          <a:solidFill>
            <a:srgbClr val="FFFFFF"/>
          </a:solidFill>
          <a:ln w="5080">
            <a:solidFill>
              <a:srgbClr val="D8DD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703320"/>
            <a:ext cx="40416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Celebrity endorsements can fade or shift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09160" y="1426464"/>
            <a:ext cx="425196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42646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INDICATORS OF LONG-TERM STRENGTH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1801368"/>
            <a:ext cx="4251960" cy="448056"/>
          </a:xfrm>
          <a:prstGeom prst="rect">
            <a:avLst/>
          </a:prstGeom>
          <a:solidFill>
            <a:srgbClr val="FFFFFF"/>
          </a:solidFill>
          <a:ln w="5080">
            <a:solidFill>
              <a:srgbClr val="D8DD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1801368"/>
            <a:ext cx="40416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Rich cultural heritage: Amelia Earhart, Eleanor Roosevelt, Katharine Hepburn — the archetype is timeless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09160" y="2276856"/>
            <a:ext cx="4251960" cy="448056"/>
          </a:xfrm>
          <a:prstGeom prst="rect">
            <a:avLst/>
          </a:prstGeom>
          <a:solidFill>
            <a:srgbClr val="F5F2ED"/>
          </a:solidFill>
          <a:ln w="5080">
            <a:solidFill>
              <a:srgbClr val="D8DD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2276856"/>
            <a:ext cx="40416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Identity-level community (tattoos, handwritten fan letters, pilgrimages) = not transactional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09160" y="2752344"/>
            <a:ext cx="4251960" cy="448056"/>
          </a:xfrm>
          <a:prstGeom prst="rect">
            <a:avLst/>
          </a:prstGeom>
          <a:solidFill>
            <a:srgbClr val="FFFFFF"/>
          </a:solidFill>
          <a:ln w="5080">
            <a:solidFill>
              <a:srgbClr val="D8DD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2752344"/>
            <a:ext cx="40416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250% YoY growth &amp; 90% loyalist retention signal genuine product-market fit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09160" y="3227832"/>
            <a:ext cx="4251960" cy="448056"/>
          </a:xfrm>
          <a:prstGeom prst="rect">
            <a:avLst/>
          </a:prstGeom>
          <a:solidFill>
            <a:srgbClr val="F5F2ED"/>
          </a:solidFill>
          <a:ln w="5080">
            <a:solidFill>
              <a:srgbClr val="D8DD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3227832"/>
            <a:ext cx="40416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Brand transcends clothing: content, values, female empowerment = durable mission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09160" y="3703320"/>
            <a:ext cx="4251960" cy="448056"/>
          </a:xfrm>
          <a:prstGeom prst="rect">
            <a:avLst/>
          </a:prstGeom>
          <a:solidFill>
            <a:srgbClr val="FFFFFF"/>
          </a:solidFill>
          <a:ln w="5080">
            <a:solidFill>
              <a:srgbClr val="D8DD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3703320"/>
            <a:ext cx="40416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Founder rebranding to 'Wildfang' (German for tomboy) broadens beyond trend label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09160" y="4178808"/>
            <a:ext cx="4251960" cy="448056"/>
          </a:xfrm>
          <a:prstGeom prst="rect">
            <a:avLst/>
          </a:prstGeom>
          <a:solidFill>
            <a:srgbClr val="F5F2ED"/>
          </a:solidFill>
          <a:ln w="5080">
            <a:solidFill>
              <a:srgbClr val="D8DD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4178808"/>
            <a:ext cx="40416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Gender-neutral fashion is a macro shift — growing consumer segment, not shrinking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4315968"/>
            <a:ext cx="859536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4315968"/>
            <a:ext cx="64008" cy="5029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3434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Wildfang's strategic moat is cultural, not just aesthetic. The opportunity is to own the 'badass feminine' identity space before competitors discover the market. Long-term brand equity will outlast any fashion cycle.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1035"/>
          </a:solidFill>
          <a:ln w="12700">
            <a:solidFill>
              <a:srgbClr val="0F10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WILDFANG — STRATEGIC ANALYSIS  |  CONFIDENTIAL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8046720" y="490118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9082A"/>
          </a:solidFill>
          <a:ln w="12700">
            <a:solidFill>
              <a:srgbClr val="C908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Competency Analysis — Prahalad &amp; Hamel Framework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6350">
            <a:solidFill>
              <a:srgbClr val="D8DD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86968"/>
            <a:ext cx="2761488" cy="658368"/>
          </a:xfrm>
          <a:prstGeom prst="rect">
            <a:avLst/>
          </a:prstGeom>
          <a:solidFill>
            <a:srgbClr val="0F1035"/>
          </a:solidFill>
          <a:ln w="12700">
            <a:solidFill>
              <a:srgbClr val="0F10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86968"/>
            <a:ext cx="276148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Brand Building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Community Cultivation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154680" y="886968"/>
            <a:ext cx="2761488" cy="658368"/>
          </a:xfrm>
          <a:prstGeom prst="rect">
            <a:avLst/>
          </a:prstGeom>
          <a:solidFill>
            <a:srgbClr val="0F1035"/>
          </a:solidFill>
          <a:ln w="12700">
            <a:solidFill>
              <a:srgbClr val="0F10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54680" y="886968"/>
            <a:ext cx="276148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  Cultural Insight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Customer Intelligence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35040" y="886968"/>
            <a:ext cx="2761488" cy="658368"/>
          </a:xfrm>
          <a:prstGeom prst="rect">
            <a:avLst/>
          </a:prstGeom>
          <a:solidFill>
            <a:srgbClr val="0F1035"/>
          </a:solidFill>
          <a:ln w="12700">
            <a:solidFill>
              <a:srgbClr val="0F10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886968"/>
            <a:ext cx="2761488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Content Creation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Influencer Activation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591056"/>
            <a:ext cx="1170432" cy="6858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591056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VALUABLE?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74320" y="1938528"/>
            <a:ext cx="1170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deliver customer value and exploit market opportunity?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1481328" y="1591056"/>
            <a:ext cx="2395728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72768" y="1618488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YES — Solves real product gap; 22K pre-launch sign-ups prove demand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950208" y="1591056"/>
            <a:ext cx="2395728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41648" y="1618488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YES — Consumer insight → brand = competitive intelligence system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19088" y="1591056"/>
            <a:ext cx="2395728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0528" y="1618488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YES — Zero paid media growth validates content as a value-creating engine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2304288"/>
            <a:ext cx="1170432" cy="685800"/>
          </a:xfrm>
          <a:prstGeom prst="rect">
            <a:avLst/>
          </a:prstGeom>
          <a:solidFill>
            <a:srgbClr val="2C4E80"/>
          </a:solidFill>
          <a:ln w="12700">
            <a:solidFill>
              <a:srgbClr val="2C4E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30428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RARE?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74320" y="2651760"/>
            <a:ext cx="1170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uncommon among current and potential competitors?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1481328" y="2304288"/>
            <a:ext cx="2395728" cy="685800"/>
          </a:xfrm>
          <a:prstGeom prst="rect">
            <a:avLst/>
          </a:prstGeom>
          <a:solidFill>
            <a:srgbClr val="EEF1F7"/>
          </a:solidFill>
          <a:ln w="6350">
            <a:solidFill>
              <a:srgbClr val="D8DD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72768" y="23317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YES — Very few brands achieve identity-level tribe formation (tattoos, letters)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950208" y="2304288"/>
            <a:ext cx="2395728" cy="685800"/>
          </a:xfrm>
          <a:prstGeom prst="rect">
            <a:avLst/>
          </a:prstGeom>
          <a:solidFill>
            <a:srgbClr val="EEF1F7"/>
          </a:solidFill>
          <a:ln w="6350">
            <a:solidFill>
              <a:srgbClr val="D8DD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41648" y="23317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YES — Founders' Nike-level insight methodology is institutionally uncommon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419088" y="2304288"/>
            <a:ext cx="2395728" cy="685800"/>
          </a:xfrm>
          <a:prstGeom prst="rect">
            <a:avLst/>
          </a:prstGeom>
          <a:solidFill>
            <a:srgbClr val="EEF1F7"/>
          </a:solidFill>
          <a:ln w="6350">
            <a:solidFill>
              <a:srgbClr val="D8DD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10528" y="23317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YES — Authentic influencer access at near-zero cost is not replicable by most brands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3017520"/>
            <a:ext cx="1170432" cy="685800"/>
          </a:xfrm>
          <a:prstGeom prst="rect">
            <a:avLst/>
          </a:prstGeom>
          <a:solidFill>
            <a:srgbClr val="2C4E80"/>
          </a:solidFill>
          <a:ln w="12700">
            <a:solidFill>
              <a:srgbClr val="2C4E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01752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INIMITABLE?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74320" y="3364992"/>
            <a:ext cx="1170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costly or difficult for competitors to copy?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1481328" y="3017520"/>
            <a:ext cx="2395728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72768" y="3044952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YES — Built over years; rooted in authentic founder identity; cannot be faked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950208" y="3017520"/>
            <a:ext cx="2395728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41648" y="3044952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YES — Requires lived cultural fluency + Nike-caliber research capability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419088" y="3017520"/>
            <a:ext cx="2395728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10528" y="3044952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YES — Organic influence relationships take years; paid substitutes feel inauthentic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74320" y="3730752"/>
            <a:ext cx="1170432" cy="685800"/>
          </a:xfrm>
          <a:prstGeom prst="rect">
            <a:avLst/>
          </a:prstGeom>
          <a:solidFill>
            <a:srgbClr val="C47A15"/>
          </a:solidFill>
          <a:ln w="12700">
            <a:solidFill>
              <a:srgbClr val="C47A1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373075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ORGANIZED?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74320" y="4078224"/>
            <a:ext cx="117043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firm organized to capture this competency's value?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1481328" y="3730752"/>
            <a:ext cx="2395728" cy="685800"/>
          </a:xfrm>
          <a:prstGeom prst="rect">
            <a:avLst/>
          </a:prstGeom>
          <a:solidFill>
            <a:srgbClr val="EEF1F7"/>
          </a:solidFill>
          <a:ln w="6350">
            <a:solidFill>
              <a:srgbClr val="D8DD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572768" y="3758184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7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PARTIAL — Brand is strong but processes for scaling need formalization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950208" y="3730752"/>
            <a:ext cx="2395728" cy="685800"/>
          </a:xfrm>
          <a:prstGeom prst="rect">
            <a:avLst/>
          </a:prstGeom>
          <a:solidFill>
            <a:srgbClr val="EEF1F7"/>
          </a:solidFill>
          <a:ln w="6350">
            <a:solidFill>
              <a:srgbClr val="D8DD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41648" y="3758184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7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PARTIAL — Insight-to-strategy loop works; needs systematic platform for data at scale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419088" y="3730752"/>
            <a:ext cx="2395728" cy="685800"/>
          </a:xfrm>
          <a:prstGeom prst="rect">
            <a:avLst/>
          </a:prstGeom>
          <a:solidFill>
            <a:srgbClr val="EEF1F7"/>
          </a:solidFill>
          <a:ln w="6350">
            <a:solidFill>
              <a:srgbClr val="D8DD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10528" y="3758184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YES — Content pipeline, social channels, and brand manifesto are in place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4462272"/>
            <a:ext cx="85953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274320" y="4462272"/>
            <a:ext cx="64008" cy="384048"/>
          </a:xfrm>
          <a:prstGeom prst="rect">
            <a:avLst/>
          </a:prstGeom>
          <a:solidFill>
            <a:srgbClr val="C9082A"/>
          </a:solidFill>
          <a:ln w="12700">
            <a:solidFill>
              <a:srgbClr val="C908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44805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All three competencies satisfy Prahalad &amp; Hamel criteria. Wildfang's true core competency is Community-Led Brand Building — rare, inimitable, and the engine behind both expansion models. Strategy must protect this at all costs.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1035"/>
          </a:solidFill>
          <a:ln w="12700">
            <a:solidFill>
              <a:srgbClr val="0F103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WILDFANG — STRATEGIC ANALYSIS  |  CONFIDENTIAL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8046720" y="490118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9082A"/>
          </a:solidFill>
          <a:ln w="12700">
            <a:solidFill>
              <a:srgbClr val="C908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 — Wildfang Strategic Position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6350">
            <a:solidFill>
              <a:srgbClr val="D8DD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86200" y="1965960"/>
            <a:ext cx="1371600" cy="1024128"/>
          </a:xfrm>
          <a:prstGeom prst="ellipse">
            <a:avLst/>
          </a:prstGeom>
          <a:solidFill>
            <a:srgbClr val="0F1035"/>
          </a:solidFill>
          <a:ln w="31750">
            <a:solidFill>
              <a:srgbClr val="C908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1965960"/>
            <a:ext cx="13716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886968"/>
            <a:ext cx="4315968" cy="2304288"/>
          </a:xfrm>
          <a:prstGeom prst="rect">
            <a:avLst/>
          </a:prstGeom>
          <a:solidFill>
            <a:srgbClr val="F0FAF5"/>
          </a:solidFill>
          <a:ln w="15240">
            <a:solidFill>
              <a:srgbClr val="1A7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886968"/>
            <a:ext cx="4315968" cy="3200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86968"/>
            <a:ext cx="4133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1234440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Cult-level brand loyalty &amp; identity (tattoos, letters)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4048" y="1563624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90% retention rate for Core Loyalists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84048" y="1892808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Zero-cost earned media strategy — viral organic growth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4048" y="2221992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250% YoY revenue growth validated product-market fit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84048" y="2551176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Founder Nike expertise in consumer insight → strategy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84048" y="2880360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A-list celebrity endorsements at near-zero cost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09160" y="886968"/>
            <a:ext cx="4315968" cy="2304288"/>
          </a:xfrm>
          <a:prstGeom prst="rect">
            <a:avLst/>
          </a:prstGeom>
          <a:solidFill>
            <a:srgbClr val="FDF2F4"/>
          </a:solidFill>
          <a:ln w="15240">
            <a:solidFill>
              <a:srgbClr val="C908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886968"/>
            <a:ext cx="4315968" cy="320040"/>
          </a:xfrm>
          <a:prstGeom prst="rect">
            <a:avLst/>
          </a:prstGeom>
          <a:solidFill>
            <a:srgbClr val="C9082A"/>
          </a:solidFill>
          <a:ln w="12700">
            <a:solidFill>
              <a:srgbClr val="C908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886968"/>
            <a:ext cx="4133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18888" y="1234440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Limited operational scale (2 Portland stores only)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18888" y="1563624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Heavy dependency on 3rd-party merchandise (35% GM only)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18888" y="1892808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Small private label capability — needs significant investment to scale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18888" y="2221992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Fashion Walk-ins show 75% churn — low loyalty outside core base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18888" y="2551176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CEO bandwidth risk — still founder-led execution model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18888" y="2880360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Geographic concentration creates market validation gap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624328"/>
            <a:ext cx="4315968" cy="2304288"/>
          </a:xfrm>
          <a:prstGeom prst="rect">
            <a:avLst/>
          </a:prstGeom>
          <a:solidFill>
            <a:srgbClr val="F0F4FA"/>
          </a:solidFill>
          <a:ln w="15240">
            <a:solidFill>
              <a:srgbClr val="2C4E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624328"/>
            <a:ext cx="4315968" cy="320040"/>
          </a:xfrm>
          <a:prstGeom prst="rect">
            <a:avLst/>
          </a:prstGeom>
          <a:solidFill>
            <a:srgbClr val="2C4E80"/>
          </a:solidFill>
          <a:ln w="12700">
            <a:solidFill>
              <a:srgbClr val="2C4E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624328"/>
            <a:ext cx="4133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84048" y="2971800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National expansion into progressive urban markets (NY, LA, Chicago)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84048" y="3300984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Platform model unlocks 3rd-party affiliate revenues at scale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84048" y="3630168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Gender-neutral/androgynous fashion is a growing macro trend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84048" y="3959352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Online Fashion segment (AOV $200) scalable via digital ads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84048" y="4288536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International markets — UK, Australia, Canada already engaged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84048" y="4617720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Potential to become THE destination platform for tomboy lifestyle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09160" y="2624328"/>
            <a:ext cx="4315968" cy="2304288"/>
          </a:xfrm>
          <a:prstGeom prst="rect">
            <a:avLst/>
          </a:prstGeom>
          <a:solidFill>
            <a:srgbClr val="FAF6EE"/>
          </a:solidFill>
          <a:ln w="15240">
            <a:solidFill>
              <a:srgbClr val="C47A1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2624328"/>
            <a:ext cx="4315968" cy="320040"/>
          </a:xfrm>
          <a:prstGeom prst="rect">
            <a:avLst/>
          </a:prstGeom>
          <a:solidFill>
            <a:srgbClr val="C47A15"/>
          </a:solidFill>
          <a:ln w="12700">
            <a:solidFill>
              <a:srgbClr val="C47A1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2624328"/>
            <a:ext cx="41330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18888" y="2971800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Large retailers entering menswear-for-women (Amazon trademarked 7 private labels)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18888" y="3300984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Tomboy trend could be co-opted and commoditized by fast fashion (H&amp;M, Zara)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18888" y="3630168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VC pressure for rapid growth may force premature scaling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818888" y="3959352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Platform model requires IT investment &amp; affiliate management capability gap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18888" y="4288536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70% churn of online/walk-in segments limits scalability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818888" y="4617720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Brand dilution risk if identity compromised during national rollout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1035"/>
          </a:solidFill>
          <a:ln w="12700">
            <a:solidFill>
              <a:srgbClr val="0F103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WILDFANG — STRATEGIC ANALYSIS  |  CONFIDENTIAL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8046720" y="490118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9082A"/>
          </a:solidFill>
          <a:ln w="12700">
            <a:solidFill>
              <a:srgbClr val="C908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Porter's Five Forces — Fashion Retail Industry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6350">
            <a:solidFill>
              <a:srgbClr val="D8DD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54680" y="1874520"/>
            <a:ext cx="2834640" cy="1444752"/>
          </a:xfrm>
          <a:prstGeom prst="rect">
            <a:avLst/>
          </a:prstGeom>
          <a:solidFill>
            <a:srgbClr val="0F1035"/>
          </a:solidFill>
          <a:ln w="25400">
            <a:solidFill>
              <a:srgbClr val="C908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154680" y="1874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0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90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RIVALRY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154680" y="2286000"/>
            <a:ext cx="2834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MODERATE–HIGH</a:t>
            </a:r>
            <a:endParaRPr lang="en-US" sz="750" dirty="0"/>
          </a:p>
          <a:p>
            <a:pPr algn="ctr" indent="0" marL="0">
              <a:buNone/>
            </a:pP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H&amp;M, Zara, Urban Outfitters,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private labels all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in adjacent spaces.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Wildfang's niche reduces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rivalry for now.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2761488" cy="1664208"/>
          </a:xfrm>
          <a:prstGeom prst="rect">
            <a:avLst/>
          </a:prstGeom>
          <a:solidFill>
            <a:srgbClr val="FFFFFF"/>
          </a:solidFill>
          <a:ln w="19050">
            <a:solidFill>
              <a:srgbClr val="1A7A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960120"/>
            <a:ext cx="2761488" cy="3657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96012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POWER — LOW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362456"/>
            <a:ext cx="2578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Loyalists have HIGH switching cost — identity-level brand attachment. However, Fashion Walk-ins (30%) are highly price-sensitive with 75% churn.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35808" y="1655064"/>
            <a:ext cx="411480" cy="0"/>
          </a:xfrm>
          <a:prstGeom prst="line">
            <a:avLst/>
          </a:prstGeom>
          <a:noFill/>
          <a:ln w="25400">
            <a:solidFill>
              <a:srgbClr val="1A7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35808" y="151790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52160" y="960120"/>
            <a:ext cx="2761488" cy="1664208"/>
          </a:xfrm>
          <a:prstGeom prst="rect">
            <a:avLst/>
          </a:prstGeom>
          <a:solidFill>
            <a:srgbClr val="FFFFFF"/>
          </a:solidFill>
          <a:ln w="19050">
            <a:solidFill>
              <a:srgbClr val="2C4E8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852160" y="960120"/>
            <a:ext cx="2761488" cy="365760"/>
          </a:xfrm>
          <a:prstGeom prst="rect">
            <a:avLst/>
          </a:prstGeom>
          <a:solidFill>
            <a:srgbClr val="2C4E80"/>
          </a:solidFill>
          <a:ln w="12700">
            <a:solidFill>
              <a:srgbClr val="2C4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25312" y="960120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POWER — LOW–MOD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0" y="1362456"/>
            <a:ext cx="2578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3rd-party brands give Wildfang assortment flexibility. Under platform model, suppliers compete for access to Wildfang's engaged community, reducing their power.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13248" y="1655064"/>
            <a:ext cx="411480" cy="0"/>
          </a:xfrm>
          <a:prstGeom prst="line">
            <a:avLst/>
          </a:prstGeom>
          <a:noFill/>
          <a:ln w="25400">
            <a:solidFill>
              <a:srgbClr val="2C4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13248" y="151790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3401568"/>
            <a:ext cx="2761488" cy="1664208"/>
          </a:xfrm>
          <a:prstGeom prst="rect">
            <a:avLst/>
          </a:prstGeom>
          <a:solidFill>
            <a:srgbClr val="FFFFFF"/>
          </a:solidFill>
          <a:ln w="19050">
            <a:solidFill>
              <a:srgbClr val="C47A15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401568"/>
            <a:ext cx="2761488" cy="365760"/>
          </a:xfrm>
          <a:prstGeom prst="rect">
            <a:avLst/>
          </a:prstGeom>
          <a:solidFill>
            <a:srgbClr val="C47A15"/>
          </a:solidFill>
          <a:ln w="12700">
            <a:solidFill>
              <a:srgbClr val="C47A1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40156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ENTRANTS — MOD–HIGH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3803904"/>
            <a:ext cx="2578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digital barriers to entry. Amazon, large retailers entering with private labels. Wildfang's brand moat (community, culture) is key barrier — not product alone.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035808" y="4096512"/>
            <a:ext cx="411480" cy="0"/>
          </a:xfrm>
          <a:prstGeom prst="line">
            <a:avLst/>
          </a:prstGeom>
          <a:noFill/>
          <a:ln w="25400">
            <a:solidFill>
              <a:srgbClr val="C47A1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35808" y="39593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7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852160" y="3401568"/>
            <a:ext cx="2761488" cy="1664208"/>
          </a:xfrm>
          <a:prstGeom prst="rect">
            <a:avLst/>
          </a:prstGeom>
          <a:solidFill>
            <a:srgbClr val="FFFFFF"/>
          </a:solidFill>
          <a:ln w="19050">
            <a:solidFill>
              <a:srgbClr val="2C4E8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852160" y="3401568"/>
            <a:ext cx="2761488" cy="365760"/>
          </a:xfrm>
          <a:prstGeom prst="rect">
            <a:avLst/>
          </a:prstGeom>
          <a:solidFill>
            <a:srgbClr val="2C4E80"/>
          </a:solidFill>
          <a:ln w="12700">
            <a:solidFill>
              <a:srgbClr val="2C4E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25312" y="3401568"/>
            <a:ext cx="2615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SUBSTITUTES — MODERATE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0" y="3803904"/>
            <a:ext cx="2578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Men's departments, vintage stores, thrift shopping are low-cost substitutes. However, no substitute offers the Wildfang community experience and identity affirmation.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413248" y="4096512"/>
            <a:ext cx="411480" cy="0"/>
          </a:xfrm>
          <a:prstGeom prst="line">
            <a:avLst/>
          </a:prstGeom>
          <a:noFill/>
          <a:ln w="25400">
            <a:solidFill>
              <a:srgbClr val="2C4E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13248" y="39593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1035"/>
          </a:solidFill>
          <a:ln w="12700">
            <a:solidFill>
              <a:srgbClr val="0F10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WILDFANG — STRATEGIC ANALYSIS  |  CONFIDENTIAL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8046720" y="490118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9082A"/>
          </a:solidFill>
          <a:ln w="12700">
            <a:solidFill>
              <a:srgbClr val="C908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Options Comparison — Current vs B&amp;C vs Platform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6350">
            <a:solidFill>
              <a:srgbClr val="D8DDE8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3959352"/>
        </p:xfrm>
        <a:graphic>
          <a:graphicData uri="http://schemas.openxmlformats.org/drawingml/2006/table">
            <a:tbl>
              <a:tblPr/>
              <a:tblGrid>
                <a:gridCol w="2121408"/>
                <a:gridCol w="2011680"/>
                <a:gridCol w="2011680"/>
                <a:gridCol w="2450592"/>
              </a:tblGrid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CURRENT MODEL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(Curated 3rd-Party)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E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PRIVATE LABEL B&amp;C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(Retail Expansion)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08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MULTISIDED PLATFORM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(Recommended ★)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7A4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035"/>
                          </a:solidFill>
                        </a:rPr>
                        <a:t>Gross Margin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6A82"/>
                          </a:solidFill>
                        </a:rPr>
                        <a:t>~35% (3rd party)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6A82"/>
                          </a:solidFill>
                        </a:rPr>
                        <a:t>~50%+ (private label)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C4E80"/>
                          </a:solidFill>
                        </a:rPr>
                        <a:t>~50%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C4E80"/>
                          </a:solidFill>
                        </a:rPr>
                        <a:t>(Lululemon benchmark)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7A4A"/>
                          </a:solidFill>
                        </a:rPr>
                        <a:t>~45–48%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7A4A"/>
                          </a:solidFill>
                        </a:rPr>
                        <a:t>(Zalando benchmark)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035"/>
                          </a:solidFill>
                        </a:rPr>
                        <a:t>Revenue % Private Label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6A82"/>
                          </a:solidFill>
                        </a:rPr>
                        <a:t>Low (minority)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9082A"/>
                          </a:solidFill>
                        </a:rPr>
                        <a:t>70% target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7A4A"/>
                          </a:solidFill>
                        </a:rPr>
                        <a:t>~20–30% (selective)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035"/>
                          </a:solidFill>
                        </a:rPr>
                        <a:t>Inventory Risk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47A15"/>
                          </a:solidFill>
                        </a:rPr>
                        <a:t>MODERATE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47A15"/>
                          </a:solidFill>
                        </a:rPr>
                        <a:t>(Wildfang holds inventory)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9082A"/>
                          </a:solidFill>
                        </a:rPr>
                        <a:t>HIGH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9082A"/>
                          </a:solidFill>
                        </a:rPr>
                        <a:t>(Full inventory owned)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7A4A"/>
                          </a:solidFill>
                        </a:rPr>
                        <a:t>LOW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7A4A"/>
                          </a:solidFill>
                        </a:rPr>
                        <a:t>(Affiliates hold inventory)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035"/>
                          </a:solidFill>
                        </a:rPr>
                        <a:t>Capex / Investment Need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4E80"/>
                          </a:solidFill>
                        </a:rPr>
                        <a:t>LOW–MODERATE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9082A"/>
                          </a:solidFill>
                        </a:rPr>
                        <a:t>VERY HIGH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9082A"/>
                          </a:solidFill>
                        </a:rPr>
                        <a:t>(Design, mfg, stores, people)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7A4A"/>
                          </a:solidFill>
                        </a:rPr>
                        <a:t>MODERATE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7A4A"/>
                          </a:solidFill>
                        </a:rPr>
                        <a:t>(IT platform, affiliates)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035"/>
                          </a:solidFill>
                        </a:rPr>
                        <a:t>Scalability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47A15"/>
                          </a:solidFill>
                        </a:rPr>
                        <a:t>LIMITED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47A15"/>
                          </a:solidFill>
                        </a:rPr>
                        <a:t>(Linear with stores)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47A15"/>
                          </a:solidFill>
                        </a:rPr>
                        <a:t>MODERATE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47A15"/>
                          </a:solidFill>
                        </a:rPr>
                        <a:t>(Constrained by retail rollout)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7A4A"/>
                          </a:solidFill>
                        </a:rPr>
                        <a:t>HIGH ★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7A4A"/>
                          </a:solidFill>
                        </a:rPr>
                        <a:t>(Network effects; digital-first)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035"/>
                          </a:solidFill>
                        </a:rPr>
                        <a:t>New Capabilities Required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A6A82"/>
                          </a:solidFill>
                        </a:rPr>
                        <a:t>Minimal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9082A"/>
                          </a:solidFill>
                        </a:rPr>
                        <a:t>Design, mfg, buying,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9082A"/>
                          </a:solidFill>
                        </a:rPr>
                        <a:t>merch, real estate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4E80"/>
                          </a:solidFill>
                        </a:rPr>
                        <a:t>IT platform, affiliate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C4E80"/>
                          </a:solidFill>
                        </a:rPr>
                        <a:t>management systems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F1035"/>
                          </a:solidFill>
                        </a:rPr>
                        <a:t>VC Attractiveness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9082A"/>
                          </a:solidFill>
                        </a:rPr>
                        <a:t>LOW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9082A"/>
                          </a:solidFill>
                        </a:rPr>
                        <a:t>(Retail model not exciting)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47A15"/>
                          </a:solidFill>
                        </a:rPr>
                        <a:t>MODERATE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47A15"/>
                          </a:solidFill>
                        </a:rPr>
                        <a:t>(Proven, but capital-heavy)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7A4A"/>
                          </a:solidFill>
                        </a:rPr>
                        <a:t>HIGH ★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7A4A"/>
                          </a:solidFill>
                        </a:rPr>
                        <a:t>(Platform = tech story for VCs)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1035"/>
          </a:solidFill>
          <a:ln w="12700">
            <a:solidFill>
              <a:srgbClr val="0F10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WILDFANG — STRATEGIC ANALYSIS  |  CONFIDENTIAL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8046720" y="490118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9082A"/>
          </a:solidFill>
          <a:ln w="12700">
            <a:solidFill>
              <a:srgbClr val="C908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Comparison — B&amp;C vs Platform Model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6350">
            <a:solidFill>
              <a:srgbClr val="D8DDE8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480560" y="914400"/>
          <a:ext cx="43891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2" descr=""/>
          <p:cNvGraphicFramePr/>
          <p:nvPr/>
        </p:nvGraphicFramePr>
        <p:xfrm>
          <a:off x="274320" y="3291840"/>
          <a:ext cx="4023360" cy="1572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8" name="Chart 3" descr=""/>
          <p:cNvGraphicFramePr/>
          <p:nvPr/>
        </p:nvGraphicFramePr>
        <p:xfrm>
          <a:off x="4754880" y="3291840"/>
          <a:ext cx="4023360" cy="1572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1035"/>
          </a:solidFill>
          <a:ln w="12700">
            <a:solidFill>
              <a:srgbClr val="0F1035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36576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WILDFANG — STRATEGIC ANALYSIS  |  CONFIDENTIAL</a:t>
            </a:r>
            <a:endParaRPr lang="en-US" sz="650" dirty="0"/>
          </a:p>
        </p:txBody>
      </p:sp>
      <p:sp>
        <p:nvSpPr>
          <p:cNvPr id="11" name="Text 5"/>
          <p:cNvSpPr/>
          <p:nvPr/>
        </p:nvSpPr>
        <p:spPr>
          <a:xfrm>
            <a:off x="8046720" y="490118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9082A"/>
          </a:solidFill>
          <a:ln w="12700">
            <a:solidFill>
              <a:srgbClr val="C908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Effects — Multisided Platform Model Dynamics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6350">
            <a:solidFill>
              <a:srgbClr val="D8DD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1737360"/>
            <a:ext cx="2286000" cy="1481328"/>
          </a:xfrm>
          <a:prstGeom prst="ellipse">
            <a:avLst/>
          </a:prstGeom>
          <a:solidFill>
            <a:srgbClr val="0F1035"/>
          </a:solidFill>
          <a:ln w="38100">
            <a:solidFill>
              <a:srgbClr val="C9082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29000" y="1737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WILDFANG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29000" y="2395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90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Hub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29000" y="2670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120K+ Members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1188720"/>
            <a:ext cx="1737360" cy="1280160"/>
          </a:xfrm>
          <a:prstGeom prst="rect">
            <a:avLst/>
          </a:prstGeom>
          <a:solidFill>
            <a:srgbClr val="2C4E80"/>
          </a:solidFill>
          <a:ln w="12700">
            <a:solidFill>
              <a:srgbClr val="2C4E8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11887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TOMBOY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11680" y="1783080"/>
            <a:ext cx="1417320" cy="0"/>
          </a:xfrm>
          <a:prstGeom prst="line">
            <a:avLst/>
          </a:prstGeom>
          <a:noFill/>
          <a:ln w="22860">
            <a:solidFill>
              <a:srgbClr val="C9082A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7132320" y="1188720"/>
            <a:ext cx="1737360" cy="1280160"/>
          </a:xfrm>
          <a:prstGeom prst="rect">
            <a:avLst/>
          </a:prstGeom>
          <a:solidFill>
            <a:srgbClr val="2C4E80"/>
          </a:solidFill>
          <a:ln w="12700">
            <a:solidFill>
              <a:srgbClr val="2C4E8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0" y="11887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15000" y="1783080"/>
            <a:ext cx="1417320" cy="0"/>
          </a:xfrm>
          <a:prstGeom prst="line">
            <a:avLst/>
          </a:prstGeom>
          <a:noFill/>
          <a:ln w="22860">
            <a:solidFill>
              <a:srgbClr val="C9082A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74320" y="3246120"/>
            <a:ext cx="173736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" y="32461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CREATORS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011680" y="3794760"/>
            <a:ext cx="1417320" cy="0"/>
          </a:xfrm>
          <a:prstGeom prst="line">
            <a:avLst/>
          </a:prstGeom>
          <a:noFill/>
          <a:ln w="22860">
            <a:solidFill>
              <a:srgbClr val="C9082A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7132320" y="3246120"/>
            <a:ext cx="173736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32320" y="3246120"/>
            <a:ext cx="1737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715000" y="3794760"/>
            <a:ext cx="1417320" cy="0"/>
          </a:xfrm>
          <a:prstGeom prst="line">
            <a:avLst/>
          </a:prstGeom>
          <a:noFill/>
          <a:ln w="22860">
            <a:solidFill>
              <a:srgbClr val="C9082A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2084832" y="100584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shoppers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more merchant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138928" y="100584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brands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better product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084832" y="329184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content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organic traffic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38928" y="3291840"/>
            <a:ext cx="12984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extend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beyond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5A6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7432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90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affiliate fee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C90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(Amazon benchmark)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13232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C90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affiliate fee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C90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sales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74320" y="4343400"/>
            <a:ext cx="85953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D8DDE8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4343400"/>
            <a:ext cx="64008" cy="47548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370832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IMPLICATION: Network effects create a self-reinforcing virtuous cycle — more community members attract more affiliated merchants and creators, which improves product selection, which attracts more members. This flywheel is Wildfang's path to national scale.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1035"/>
          </a:solidFill>
          <a:ln w="12700">
            <a:solidFill>
              <a:srgbClr val="0F10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WILDFANG — STRATEGIC ANALYSIS  |  CONFIDENTIAL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8046720" y="490118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9082A"/>
          </a:solidFill>
          <a:ln w="12700">
            <a:solidFill>
              <a:srgbClr val="C908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Challenges — Strategic Risk Assessment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6350">
            <a:solidFill>
              <a:srgbClr val="D8DDE8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3995928"/>
        </p:xfrm>
        <a:graphic>
          <a:graphicData uri="http://schemas.openxmlformats.org/drawingml/2006/table">
            <a:tbl>
              <a:tblPr/>
              <a:tblGrid>
                <a:gridCol w="1389888"/>
                <a:gridCol w="566928"/>
                <a:gridCol w="621792"/>
                <a:gridCol w="658368"/>
                <a:gridCol w="2560320"/>
                <a:gridCol w="2615184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SEVERITY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LIKELIHOOD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3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035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F1035"/>
                          </a:solidFill>
                        </a:rPr>
                        <a:t>Brand Dilution Risk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C4E80"/>
                          </a:solidFill>
                        </a:rPr>
                        <a:t>Both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9082A"/>
                          </a:solidFill>
                        </a:rPr>
                        <a:t>HIGH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082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9082A"/>
                          </a:solidFill>
                        </a:rPr>
                        <a:t>HIGH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082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5A6A82"/>
                          </a:solidFill>
                        </a:rPr>
                        <a:t>Rapid national expansion risks watering down the cult identity that drives Core Loyalist retention (90%). Each new market must replicate the Portland 'pilgrimage' experience.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F1035"/>
                          </a:solidFill>
                        </a:rPr>
                        <a:t>Maintain rigorous brand gatekeeping; open Outposts only in high-density tomboy communities (NY, LA, Austin); community-first before product-push.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F1035"/>
                          </a:solidFill>
                        </a:rPr>
                        <a:t>Platform Cold Start Problem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C4E80"/>
                          </a:solidFill>
                        </a:rPr>
                        <a:t>Platform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9082A"/>
                          </a:solidFill>
                        </a:rPr>
                        <a:t>HIGH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082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47A15"/>
                          </a:solidFill>
                        </a:rPr>
                        <a:t>MOD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7A1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5A6A82"/>
                          </a:solidFill>
                        </a:rPr>
                        <a:t>Chicken-and-egg problem: affiliates won't join without sufficient community volume; community value depends on affiliate product breadth.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F1035"/>
                          </a:solidFill>
                        </a:rPr>
                        <a:t>Leverage existing 120K community as launch proof; offer guaranteed revenue share to first-mover affiliates; use private label as anchor assortment during transition.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F1035"/>
                          </a:solidFill>
                        </a:rPr>
                        <a:t>Inventory &amp; Financial Risk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C4E80"/>
                          </a:solidFill>
                        </a:rPr>
                        <a:t>B&amp;C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9082A"/>
                          </a:solidFill>
                        </a:rPr>
                        <a:t>HIGH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082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47A15"/>
                          </a:solidFill>
                        </a:rPr>
                        <a:t>MOD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7A1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5A6A82"/>
                          </a:solidFill>
                        </a:rPr>
                        <a:t>Private label expansion to 70% of revenue requires significant upfront investment in design, manufacturing, and inventory — creating high financial exposure in early years.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F1035"/>
                          </a:solidFill>
                        </a:rPr>
                        <a:t>Phase private label growth to 30% initially; co-design with existing brands to reduce capability gap; maintain 3rd-party assortment as risk buffer.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F1035"/>
                          </a:solidFill>
                        </a:rPr>
                        <a:t>Capability Gap — Tech &amp; Affiliates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C4E80"/>
                          </a:solidFill>
                        </a:rPr>
                        <a:t>Platform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47A15"/>
                          </a:solidFill>
                        </a:rPr>
                        <a:t>MOD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7A1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9082A"/>
                          </a:solidFill>
                        </a:rPr>
                        <a:t>HIGH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082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5A6A82"/>
                          </a:solidFill>
                        </a:rPr>
                        <a:t>Wildfang currently lacks IT platform expertise and affiliate management infrastructure. Both are critical for the platform model to function at scale.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F1035"/>
                          </a:solidFill>
                        </a:rPr>
                        <a:t>Hire CTO/VP Engineering; partner with Shopify or similar platform providers; recruit affiliate manager with marketplace experience (eBay, Amazon background).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F1035"/>
                          </a:solidFill>
                        </a:rPr>
                        <a:t>Churn in Growth Segments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C4E80"/>
                          </a:solidFill>
                        </a:rPr>
                        <a:t>Both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47A15"/>
                          </a:solidFill>
                        </a:rPr>
                        <a:t>MOD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7A1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9082A"/>
                          </a:solidFill>
                        </a:rPr>
                        <a:t>HIGH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082A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5A6A82"/>
                          </a:solidFill>
                        </a:rPr>
                        <a:t>Fashion Online (70% churn) and Walk-in (75% churn) segments — which make up 45% of portfolio — have poor retention. Scaling into these segments amplifies revenue volatility.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F1035"/>
                          </a:solidFill>
                        </a:rPr>
                        <a:t>Email nurture sequences; loyalty/VIP program to convert transactional buyers to loyalists; community events to build emotional attachment beyond product.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F1035"/>
                          </a:solidFill>
                        </a:rPr>
                        <a:t>Competitive Entry (Amazon, H&amp;M)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C4E80"/>
                          </a:solidFill>
                        </a:rPr>
                        <a:t>Both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47A15"/>
                          </a:solidFill>
                        </a:rPr>
                        <a:t>MOD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7A1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C47A15"/>
                          </a:solidFill>
                        </a:rPr>
                        <a:t>MOD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7A15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5A6A82"/>
                          </a:solidFill>
                        </a:rPr>
                        <a:t>Amazon trademarked 7 private fashion labels in 2015. Large fast fashion players may co-opt the aesthetic without the community — commoditizing the look.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F1035"/>
                          </a:solidFill>
                        </a:rPr>
                        <a:t>Build community moat faster than competitors can copy aesthetic; position on values and culture, not product alone; file trademarks on brand IP aggressively.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8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1035"/>
          </a:solidFill>
          <a:ln w="12700">
            <a:solidFill>
              <a:srgbClr val="0F10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WILDFANG — STRATEGIC ANALYSIS  |  CONFIDENTIAL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8046720" y="490118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C9082A"/>
          </a:solidFill>
          <a:ln w="12700">
            <a:solidFill>
              <a:srgbClr val="C908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1A35"/>
          </a:solidFill>
          <a:ln w="12700">
            <a:solidFill>
              <a:srgbClr val="1A1A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097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0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6400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Platform-Led National Expansion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66928" y="1353312"/>
            <a:ext cx="5943600" cy="0"/>
          </a:xfrm>
          <a:prstGeom prst="line">
            <a:avLst/>
          </a:prstGeom>
          <a:noFill/>
          <a:ln w="25400">
            <a:solidFill>
              <a:srgbClr val="C908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81328"/>
            <a:ext cx="4023360" cy="1609344"/>
          </a:xfrm>
          <a:prstGeom prst="rect">
            <a:avLst/>
          </a:prstGeom>
          <a:solidFill>
            <a:srgbClr val="1C1C38"/>
          </a:solidFill>
          <a:ln w="19050">
            <a:solidFill>
              <a:srgbClr val="1A7A4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1481328"/>
            <a:ext cx="621792" cy="160934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481328"/>
            <a:ext cx="62179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160934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First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1975104"/>
            <a:ext cx="3218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Wildfang as a multisided fashion platform — affiliate merchants manage inventory; Wildfang curates community. Target 45-48% gross margin at scale (Zalando benchmark).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481328"/>
            <a:ext cx="4023360" cy="1609344"/>
          </a:xfrm>
          <a:prstGeom prst="rect">
            <a:avLst/>
          </a:prstGeom>
          <a:solidFill>
            <a:srgbClr val="1C1C38"/>
          </a:solidFill>
          <a:ln w="19050">
            <a:solidFill>
              <a:srgbClr val="C9082A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481328"/>
            <a:ext cx="621792" cy="1609344"/>
          </a:xfrm>
          <a:prstGeom prst="rect">
            <a:avLst/>
          </a:prstGeom>
          <a:solidFill>
            <a:srgbClr val="C9082A"/>
          </a:solidFill>
          <a:ln w="12700">
            <a:solidFill>
              <a:srgbClr val="C908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481328"/>
            <a:ext cx="62179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68112" y="160934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0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Private Label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68112" y="1975104"/>
            <a:ext cx="3218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≤30% private label assortment for brand differentiation and higher-margin product. Do NOT pursue the 70% private label B&amp;C target — too capital-intensive and operationally risky.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6928" y="3200400"/>
            <a:ext cx="4023360" cy="1609344"/>
          </a:xfrm>
          <a:prstGeom prst="rect">
            <a:avLst/>
          </a:prstGeom>
          <a:solidFill>
            <a:srgbClr val="1C1C38"/>
          </a:solidFill>
          <a:ln w="19050">
            <a:solidFill>
              <a:srgbClr val="2C4E8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" y="3200400"/>
            <a:ext cx="621792" cy="1609344"/>
          </a:xfrm>
          <a:prstGeom prst="rect">
            <a:avLst/>
          </a:prstGeom>
          <a:solidFill>
            <a:srgbClr val="2C4E80"/>
          </a:solidFill>
          <a:ln w="12700">
            <a:solidFill>
              <a:srgbClr val="2C4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200400"/>
            <a:ext cx="62179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80160" y="33284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Digital-Led Expansion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3694176"/>
            <a:ext cx="3218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Fashion-Engaged Online (AOV $200, 55% of platform portfolio) via paid digital. Open 4-6 flagship Outposts only in high-density markets as brand billboards, not revenue engines.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3200400"/>
            <a:ext cx="4023360" cy="1609344"/>
          </a:xfrm>
          <a:prstGeom prst="rect">
            <a:avLst/>
          </a:prstGeom>
          <a:solidFill>
            <a:srgbClr val="1C1C38"/>
          </a:solidFill>
          <a:ln w="19050">
            <a:solidFill>
              <a:srgbClr val="D4A017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200400"/>
            <a:ext cx="621792" cy="16093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200400"/>
            <a:ext cx="62179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2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68112" y="3328416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Community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68112" y="3694176"/>
            <a:ext cx="3218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C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strategic decision must pass the brand values test. Community is the moat — it drives low-CAC acquisition ($20 for loyalists), 90% retention, and viral referral. Never sacrifice for margin.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1035"/>
          </a:solidFill>
          <a:ln w="12700">
            <a:solidFill>
              <a:srgbClr val="0F10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WILDFANG — STRATEGIC ANALYSIS  |  CONFIDENTIAL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8046720" y="490118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C9082A"/>
          </a:solidFill>
          <a:ln w="12700">
            <a:solidFill>
              <a:srgbClr val="C908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 — 18-Month Expansion Plan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6350">
            <a:solidFill>
              <a:srgbClr val="D8DD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86968"/>
            <a:ext cx="2761488" cy="530352"/>
          </a:xfrm>
          <a:prstGeom prst="rect">
            <a:avLst/>
          </a:prstGeom>
          <a:solidFill>
            <a:srgbClr val="2C4E80"/>
          </a:solidFill>
          <a:ln w="12700">
            <a:solidFill>
              <a:srgbClr val="2C4E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86968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|  Q1–Q2 2017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1143000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&amp; Platform Build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444752"/>
            <a:ext cx="2761488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2C4E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847088"/>
            <a:ext cx="2542032" cy="0"/>
          </a:xfrm>
          <a:prstGeom prst="line">
            <a:avLst/>
          </a:prstGeom>
          <a:noFill/>
          <a:ln w="508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481328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Close funding round — pitch platform model to VCs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84048" y="2249424"/>
            <a:ext cx="2542032" cy="0"/>
          </a:xfrm>
          <a:prstGeom prst="line">
            <a:avLst/>
          </a:prstGeom>
          <a:noFill/>
          <a:ln w="5080">
            <a:solidFill>
              <a:srgbClr val="D8DD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883664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Hire CTO &amp; affiliate manager (platform tech build begins)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84048" y="2651760"/>
            <a:ext cx="2542032" cy="0"/>
          </a:xfrm>
          <a:prstGeom prst="line">
            <a:avLst/>
          </a:prstGeom>
          <a:noFill/>
          <a:ln w="5080">
            <a:solidFill>
              <a:srgbClr val="D8DD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28600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Launch affiliate onboarding with 10–15 curated brand partners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84048" y="3054096"/>
            <a:ext cx="2542032" cy="0"/>
          </a:xfrm>
          <a:prstGeom prst="line">
            <a:avLst/>
          </a:prstGeom>
          <a:noFill/>
          <a:ln w="5080">
            <a:solidFill>
              <a:srgbClr val="D8DD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688336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Migrate e-commerce to platform architecture (Shopify+/custom)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84048" y="3456432"/>
            <a:ext cx="2542032" cy="0"/>
          </a:xfrm>
          <a:prstGeom prst="line">
            <a:avLst/>
          </a:prstGeom>
          <a:noFill/>
          <a:ln w="5080">
            <a:solidFill>
              <a:srgbClr val="D8DD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090672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Roll out digital acquisition campaign for Fashion-Online segment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84048" y="3858768"/>
            <a:ext cx="2542032" cy="0"/>
          </a:xfrm>
          <a:prstGeom prst="line">
            <a:avLst/>
          </a:prstGeom>
          <a:noFill/>
          <a:ln w="5080">
            <a:solidFill>
              <a:srgbClr val="D8DD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493008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Retain Core Loyalists — exclusive events, early access programs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4014216"/>
            <a:ext cx="2761488" cy="530352"/>
          </a:xfrm>
          <a:prstGeom prst="rect">
            <a:avLst/>
          </a:prstGeom>
          <a:solidFill>
            <a:srgbClr val="2C4E80">
              <a:alpha val="15000"/>
            </a:srgbClr>
          </a:solidFill>
          <a:ln w="9525">
            <a:solidFill>
              <a:srgbClr val="2C4E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4032504"/>
            <a:ext cx="26151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C4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25 affiliates signed • 15K new online shoppers • Tech platform live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154680" y="886968"/>
            <a:ext cx="2761488" cy="530352"/>
          </a:xfrm>
          <a:prstGeom prst="rect">
            <a:avLst/>
          </a:prstGeom>
          <a:solidFill>
            <a:srgbClr val="C9082A"/>
          </a:solidFill>
          <a:ln w="12700">
            <a:solidFill>
              <a:srgbClr val="C908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54680" y="886968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|  Q3–Q4 2017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7–12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154680" y="1143000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Digital &amp; 2 Flagship Outposts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154680" y="1444752"/>
            <a:ext cx="2761488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C908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64408" y="1847088"/>
            <a:ext cx="2542032" cy="0"/>
          </a:xfrm>
          <a:prstGeom prst="line">
            <a:avLst/>
          </a:prstGeom>
          <a:noFill/>
          <a:ln w="508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64408" y="1481328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Open Outpost #3 — New York City (destination format)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64408" y="2249424"/>
            <a:ext cx="2542032" cy="0"/>
          </a:xfrm>
          <a:prstGeom prst="line">
            <a:avLst/>
          </a:prstGeom>
          <a:noFill/>
          <a:ln w="5080">
            <a:solidFill>
              <a:srgbClr val="D8DD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64408" y="1883664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Open Outpost #4 — Los Angeles (billboard format)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64408" y="2651760"/>
            <a:ext cx="2542032" cy="0"/>
          </a:xfrm>
          <a:prstGeom prst="line">
            <a:avLst/>
          </a:prstGeom>
          <a:noFill/>
          <a:ln w="5080">
            <a:solidFill>
              <a:srgbClr val="D8DD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64408" y="228600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Scale affiliate network to 50+ brands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64408" y="3054096"/>
            <a:ext cx="2542032" cy="0"/>
          </a:xfrm>
          <a:prstGeom prst="line">
            <a:avLst/>
          </a:prstGeom>
          <a:noFill/>
          <a:ln w="5080">
            <a:solidFill>
              <a:srgbClr val="D8DD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64408" y="2688336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Launch user reviews &amp; community curation features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64408" y="3456432"/>
            <a:ext cx="2542032" cy="0"/>
          </a:xfrm>
          <a:prstGeom prst="line">
            <a:avLst/>
          </a:prstGeom>
          <a:noFill/>
          <a:ln w="5080">
            <a:solidFill>
              <a:srgbClr val="D8DD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64408" y="3090672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Grow Fashion-Online to 40% of portfolio via Google/Meta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264408" y="3858768"/>
            <a:ext cx="2542032" cy="0"/>
          </a:xfrm>
          <a:prstGeom prst="line">
            <a:avLst/>
          </a:prstGeom>
          <a:noFill/>
          <a:ln w="5080">
            <a:solidFill>
              <a:srgbClr val="D8DD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64408" y="3493008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Launch Wildfang private label 2.0 (≤30% of assortment)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154680" y="4014216"/>
            <a:ext cx="2761488" cy="530352"/>
          </a:xfrm>
          <a:prstGeom prst="rect">
            <a:avLst/>
          </a:prstGeom>
          <a:solidFill>
            <a:srgbClr val="C9082A">
              <a:alpha val="15000"/>
            </a:srgbClr>
          </a:solidFill>
          <a:ln w="9525">
            <a:solidFill>
              <a:srgbClr val="C908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27832" y="4032504"/>
            <a:ext cx="26151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C90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$5M+ annual revenue • 50+ affiliates • 2 new markets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035040" y="886968"/>
            <a:ext cx="2761488" cy="53035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0" y="886968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|  Q1–Q2 2018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13–18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035040" y="1143000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Network Effects Activation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035040" y="1444752"/>
            <a:ext cx="2761488" cy="2542032"/>
          </a:xfrm>
          <a:prstGeom prst="rect">
            <a:avLst/>
          </a:prstGeom>
          <a:solidFill>
            <a:srgbClr val="FFFFFF"/>
          </a:solidFill>
          <a:ln w="9525">
            <a:solidFill>
              <a:srgbClr val="1A7A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44768" y="1847088"/>
            <a:ext cx="2542032" cy="0"/>
          </a:xfrm>
          <a:prstGeom prst="line">
            <a:avLst/>
          </a:prstGeom>
          <a:noFill/>
          <a:ln w="508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44768" y="1481328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Open Outpost #5–6 in Chicago + Austin (emerging markets)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144768" y="2249424"/>
            <a:ext cx="2542032" cy="0"/>
          </a:xfrm>
          <a:prstGeom prst="line">
            <a:avLst/>
          </a:prstGeom>
          <a:noFill/>
          <a:ln w="5080">
            <a:solidFill>
              <a:srgbClr val="D8DD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44768" y="1883664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Platform reaches 100+ affiliate merchants — network effects kick in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144768" y="2651760"/>
            <a:ext cx="2542032" cy="0"/>
          </a:xfrm>
          <a:prstGeom prst="line">
            <a:avLst/>
          </a:prstGeom>
          <a:noFill/>
          <a:ln w="5080">
            <a:solidFill>
              <a:srgbClr val="D8DD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44768" y="228600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Explore international — UK/Canada market test (Toronto, London)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144768" y="3054096"/>
            <a:ext cx="2542032" cy="0"/>
          </a:xfrm>
          <a:prstGeom prst="line">
            <a:avLst/>
          </a:prstGeom>
          <a:noFill/>
          <a:ln w="5080">
            <a:solidFill>
              <a:srgbClr val="D8DD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44768" y="2688336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Wildfang exclusive drops drive urgency and VIP retention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144768" y="3456432"/>
            <a:ext cx="2542032" cy="0"/>
          </a:xfrm>
          <a:prstGeom prst="line">
            <a:avLst/>
          </a:prstGeom>
          <a:noFill/>
          <a:ln w="5080">
            <a:solidFill>
              <a:srgbClr val="D8DD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44768" y="3090672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Series B funding pitch — platform revenue + CLV data as proof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144768" y="3858768"/>
            <a:ext cx="2542032" cy="0"/>
          </a:xfrm>
          <a:prstGeom prst="line">
            <a:avLst/>
          </a:prstGeom>
          <a:noFill/>
          <a:ln w="5080">
            <a:solidFill>
              <a:srgbClr val="D8DD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44768" y="3493008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F1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Evaluate licensing/content monetization opportunities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035040" y="4014216"/>
            <a:ext cx="2761488" cy="530352"/>
          </a:xfrm>
          <a:prstGeom prst="rect">
            <a:avLst/>
          </a:prstGeom>
          <a:solidFill>
            <a:srgbClr val="1A7A4A">
              <a:alpha val="15000"/>
            </a:srgbClr>
          </a:solidFill>
          <a:ln w="9525">
            <a:solidFill>
              <a:srgbClr val="1A7A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08192" y="4032504"/>
            <a:ext cx="26151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KPIs: $10M+ revenue • 100+ affiliates • 45%+ gross margin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274320" y="4572000"/>
            <a:ext cx="8595360" cy="0"/>
          </a:xfrm>
          <a:prstGeom prst="line">
            <a:avLst/>
          </a:prstGeom>
          <a:noFill/>
          <a:ln w="6350">
            <a:solidFill>
              <a:srgbClr val="D8DDE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0F1035"/>
          </a:solidFill>
          <a:ln w="12700">
            <a:solidFill>
              <a:srgbClr val="0F103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65760" y="490118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WILDFANG — STRATEGIC ANALYSIS  |  CONFIDENTIAL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8046720" y="490118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C9082A"/>
          </a:solidFill>
          <a:ln w="12700">
            <a:solidFill>
              <a:srgbClr val="C908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36592"/>
            <a:ext cx="9144000" cy="411480"/>
          </a:xfrm>
          <a:prstGeom prst="rect">
            <a:avLst/>
          </a:prstGeom>
          <a:solidFill>
            <a:srgbClr val="C9082A"/>
          </a:solidFill>
          <a:ln w="12700">
            <a:solidFill>
              <a:srgbClr val="C908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583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C90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WILDFANG OPPORTUNITY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207008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Wildfang is not just a fashion brand.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community-powered identity movement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potential to become the defining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for a generation of bold women.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0" y="2907792"/>
            <a:ext cx="4572000" cy="0"/>
          </a:xfrm>
          <a:prstGeom prst="line">
            <a:avLst/>
          </a:prstGeom>
          <a:noFill/>
          <a:ln w="25400">
            <a:solidFill>
              <a:srgbClr val="C908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303580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0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Community = Competitive Moat → Protect at all costs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33832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Platform Model → Higher scalability, lower CapEx, VC-attractiveness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373075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WF Exclusives + Fashion Online → Priority investment segments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407822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18-Month Roadmap → $10M+ revenue, 100+ affiliates, national presence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Consulting Group  |  Prepared for Wildfang Inc.  |  Portland, Oregon  |  2016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Wildfang – Strategic Business Model Analysis</dc:title>
  <dc:subject>PptxGenJS Presentation</dc:subject>
  <dc:creator>Strategy Consulting Group</dc:creator>
  <cp:lastModifiedBy>Strategy Consulting Group</cp:lastModifiedBy>
  <cp:revision>1</cp:revision>
  <dcterms:created xsi:type="dcterms:W3CDTF">2026-04-10T04:26:07Z</dcterms:created>
  <dcterms:modified xsi:type="dcterms:W3CDTF">2026-04-10T04:26:07Z</dcterms:modified>
</cp:coreProperties>
</file>