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9EF7"/>
                </a:solidFill>
                <a:latin typeface="Calibri"/>
              </a:defRPr>
            </a:pPr>
            <a:r>
              <a:t>NovaMed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AA"/>
                </a:solidFill>
                <a:latin typeface="Calibri"/>
              </a:defRPr>
            </a:pPr>
            <a:r>
              <a:t>AI-Powered Diagnostic Intelligence for Rural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Series A  •  $12M Round  •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Dr. Ananya Sharma, CEO &amp; Co-Founder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ananya@novamed.ai  |  +91-98765-43210</a:t>
            </a:r>
          </a:p>
          <a:p>
            <a:pPr algn="l">
              <a:defRPr sz="1000" b="1">
                <a:solidFill>
                  <a:srgbClr val="009EF7"/>
                </a:solidFill>
                <a:latin typeface="Calibri"/>
              </a:defRPr>
            </a:pPr>
            <a:r>
              <a:t>www.novamed.ai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EF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20116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India's population lives in</a:t>
            </a:r>
            <a:br/>
            <a:r>
              <a:t>rural areas with &lt; 1 doctor</a:t>
            </a:r>
            <a:br/>
            <a:r>
              <a:t>per 10,000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377440" cy="20116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Calibri"/>
              </a:defRPr>
            </a:pPr>
            <a:r>
              <a:t>4.2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average travel time for a</a:t>
            </a:r>
            <a:br/>
            <a:r>
              <a:t>rural patient to reach the</a:t>
            </a:r>
            <a:br/>
            <a:r>
              <a:t>nearest diagnostic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2377440" cy="20116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Calibri"/>
              </a:defRPr>
            </a:pPr>
            <a:r>
              <a:t>₹18,000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lost annually in GDP due</a:t>
            </a:r>
            <a:br/>
            <a:r>
              <a:t>to delayed diagnosis and</a:t>
            </a:r>
            <a:br/>
            <a:r>
              <a:t>preventable disease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India's rural healthcare crisis is not a supply problem — it's an intelligence gap.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PHCs (Primary Health Centers) have equipment but lack trained radiologists and pathologists.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73% of misdiagnoses in Tier-3 towns originate from human fatigue during high patient loads (&gt;80/day).</a:t>
            </a:r>
          </a:p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Government schemes (Ayushman Bharat) cover treatment costs — but patients arrive too late because early diagnosis never happened.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NovaMed AI is an edge-deployed diagnostic assistant that brings specialist-grade analysis to every Primary Health Center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7498079" cy="91440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7"/>
                </a:solidFill>
                <a:latin typeface="Calibri"/>
              </a:defRPr>
            </a:pPr>
            <a:r>
              <a:t>🔬  AI Radiology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Analyzes X-ray, ultrasound &amp; retinal scans with 96.3% accuracy (validated on 1.2M anonymized images from AIIMS &amp; CMC Vellore). Runs on-device in &lt;8 seconds per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79"/>
            <a:ext cx="7498079" cy="91440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278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7"/>
                </a:solidFill>
                <a:latin typeface="Calibri"/>
              </a:defRPr>
            </a:pPr>
            <a:r>
              <a:t>🩸  Smart Lab Interpreter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Processes CBC, LFT, KFT reports and flags critical deviations with differential diagnosis suggestions. Integrates with 14 common Indian lab-machine OEMs via HL7/FHIR.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7498079" cy="91440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7"/>
                </a:solidFill>
                <a:latin typeface="Calibri"/>
              </a:defRPr>
            </a:pPr>
            <a:r>
              <a:t>📱  Offline-First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Full functionality on ₹12,000 Android tablets with no internet. Data syncs automatically when connectivity resumes. Designed for 2G/3G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7498079" cy="91440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309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7"/>
                </a:solidFill>
                <a:latin typeface="Calibri"/>
              </a:defRPr>
            </a:pPr>
            <a:r>
              <a:t>🗣️  Multilingual Voice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Hindi, Tamil, Telugu, Bengali, Marathi voice-guided workflows so ASHA workers with minimal training can operate the system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EF7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25603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$47B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Global AI in Healthcare</a:t>
            </a:r>
            <a:br/>
            <a:r>
              <a:t>Diagnostics (2028E)</a:t>
            </a:r>
            <a:br/>
            <a:r>
              <a:t>CAGR 38.4% — Grand View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377440" cy="25603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$8.2B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India AI-Assisted Diagnostics</a:t>
            </a:r>
            <a:br/>
            <a:r>
              <a:t>+ Rural Health-Tech Market</a:t>
            </a:r>
            <a:br/>
            <a:r>
              <a:t>(2028E)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377440" cy="25603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$420M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774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Year 5 Revenue Target</a:t>
            </a:r>
            <a:br/>
            <a:r>
              <a:t>155,000 PHCs × ₹28,000</a:t>
            </a:r>
            <a:br/>
            <a:r>
              <a:t>SaaS Annual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Why Now?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National Digital Health Mission (ABDM) mandates digitized records at all PHCs by 2027 — creating a greenfield integration opportunity.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Edge AI chips (Qualcomm QCS6490) now deliver 12 TOPS in a ₹3,000 module — making on-device inference commercially viable for the first time.</a:t>
            </a:r>
          </a:p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• 62% of state NHM budgets now have a dedicated line-item for health-tech procurement (up from 18% in 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1645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EF7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PHCs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across Rajasthan, UP,</a:t>
            </a:r>
            <a:br/>
            <a:r>
              <a:t>Madhya Pradesh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377440" cy="1645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EF7"/>
                </a:solidFill>
                <a:latin typeface="Calibri"/>
              </a:defRPr>
            </a:pPr>
            <a:r>
              <a:t>1.8M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Scans Processed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since Jan 2025 pilot</a:t>
            </a:r>
            <a:br/>
            <a:r>
              <a:t>(42% MoM growth)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377440" cy="1645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EF7"/>
                </a:solidFill>
                <a:latin typeface="Calibri"/>
              </a:defRPr>
            </a:pPr>
            <a:r>
              <a:t>₹4.7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as of March 2026</a:t>
            </a:r>
            <a:br/>
            <a:r>
              <a:t>(NRR 128%)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Q2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00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Founded. Secured ₹2.5 Cr pre-seed from India Quotient &amp; Titan Capital.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Q4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703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Completed clinical validation at AIIMS Jodhpur — 96.3% concordance with senior radiologists (n=12,400).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Q1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Signed MoU with Rajasthan NHM (National Health Mission) — 150 PHCs in first batch.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Q3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7091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Expanded to UP &amp; MP. Partnership with SRL Diagnostics for lab-machine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12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Crossed ₹4 Cr ARR. Selected for WHO Digital Health Innovation Cohort. FDA 510(k) pre-submission filed.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EF7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7498079" cy="100584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B2G SaaS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65% of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7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Annual per-PHC license (₹28,000/yr) sold through state NHM tenders. 3-year lock-in with auto-renewal. Includes OTA model updates &amp;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7498079" cy="100584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B2B API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96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20% of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Diagnostic chains (SRL, Thyrocare, Metropolis) pay ₹3.50 per scan analysis via API. Minimum commitment: 50,000 scans/month.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7498079" cy="100584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Hardware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39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10% of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Pre-configured NovaMed Edge Kit (tablet + AI module + adapters) at ₹45,000. 30% gross margin. Sold to PHCs without existing tablets.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7498079" cy="100584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82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Insights (De-identified)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82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5% of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932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Aggregated, anonymized epidemiological data sold to pharma companies and public health researchers. HIPAA &amp; DPDP Act compliant.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9EF7"/>
                </a:solidFill>
                <a:latin typeface="Calibri"/>
              </a:defRPr>
            </a:pPr>
            <a:r>
              <a:t>Unit Economics (per PHC):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LTV: ₹84,000 (3-yr avg tenure)  |  CAC: ₹6,200 (govt tender channel)  |  LTV:CAC = 13.5x  |  Payback: 2.6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600200" cy="365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280160"/>
            <a:ext cx="1417320" cy="365760"/>
          </a:xfrm>
          <a:prstGeom prst="roundRect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325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NovaMed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280160"/>
            <a:ext cx="1417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25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Qure.ai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280160"/>
            <a:ext cx="1417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325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Google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280160"/>
            <a:ext cx="1417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325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5C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160020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Offline / Edge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1737360"/>
            <a:ext cx="1417320" cy="411480"/>
          </a:xfrm>
          <a:prstGeom prst="round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7830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✅  Full offline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1737360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17830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Cloud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1737360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7830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Cloud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737360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7830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⚠️  Partial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212848"/>
            <a:ext cx="160020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2585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Radiology + Pathology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2212848"/>
            <a:ext cx="1417320" cy="411480"/>
          </a:xfrm>
          <a:prstGeom prst="roundRect">
            <a:avLst/>
          </a:prstGeom>
          <a:solidFill>
            <a:srgbClr val="0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22585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✅  Both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2212848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22585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✅  Radiology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212848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22585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✅  Radiology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212848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2585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✅  Radiology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688336"/>
            <a:ext cx="160020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273405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Multilingual Voice UX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2688336"/>
            <a:ext cx="1417320" cy="411480"/>
          </a:xfrm>
          <a:prstGeom prst="round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27340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✅  5 languages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0" y="2688336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27340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English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2688336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27340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English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2688336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27340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English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163824"/>
            <a:ext cx="160020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2095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Govt. Tender Ready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3163824"/>
            <a:ext cx="1417320" cy="411480"/>
          </a:xfrm>
          <a:prstGeom prst="roundRect">
            <a:avLst/>
          </a:prstGeom>
          <a:solidFill>
            <a:srgbClr val="0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32095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✅  GEM listed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0" y="3163824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32095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⚠️  Limited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0" y="3163824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32095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  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3163824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32095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⚠️  Limited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3639312"/>
            <a:ext cx="160020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368503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Price (per PHC / yr)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77440" y="3639312"/>
            <a:ext cx="1417320" cy="411480"/>
          </a:xfrm>
          <a:prstGeom prst="round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23160" y="3685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₹28,000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0" y="3639312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3685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₹1,20,000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3639312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40" y="3685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N/A (pilot)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66560" y="3639312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80" y="3685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₹85,000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114800"/>
            <a:ext cx="160020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41605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Clinical Validation (India)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4114800"/>
            <a:ext cx="1417320" cy="411480"/>
          </a:xfrm>
          <a:prstGeom prst="roundRect">
            <a:avLst/>
          </a:prstGeom>
          <a:solidFill>
            <a:srgbClr val="0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23160" y="4160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AIIMS, CMC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40480" y="4114800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4160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Narayana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03520" y="4114800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49240" y="4160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Apollo (US)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66560" y="4114800"/>
            <a:ext cx="1417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12280" y="4160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Manipal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4590288"/>
            <a:ext cx="160020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4636007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Edge Hardware Bundle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77440" y="4590288"/>
            <a:ext cx="1417320" cy="411480"/>
          </a:xfrm>
          <a:prstGeom prst="round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23160" y="463600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Calibri"/>
              </a:defRPr>
            </a:pPr>
            <a:r>
              <a:t>✅  ₹45K kit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40480" y="4590288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86200" y="463600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03520" y="4590288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49240" y="463600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66560" y="4590288"/>
            <a:ext cx="1417320" cy="4114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12280" y="463600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8C8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Our moat: Only player with offline-first edge AI + multilingual voice + government procurement readiness — purpose-built for Bharat's PHCs.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EF7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498079" cy="10972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822960" cy="822960"/>
          </a:xfrm>
          <a:prstGeom prst="ellipse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Dr. Ananya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54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CEO &amp; 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83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MBBS (AIIMS Delhi), MBA (ISB Hyderabad). Former McKinsey Healthcare Practice (3 yrs). Led digital health rollout for Rajasthan NHM reaching 2M patients. Published 4 papers on AI diagnostics in The Lancet Digital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7498079" cy="10972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Vikram Patel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CTO &amp; 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B.Tech CS (IIT Bombay), MS ML (Stanford). Ex-Google Brain — shipped on-device ML for Android Health Sensors. 3 patents in edge inference optimization. Built Qualcomm's first medical-grade AI benchmark suite.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7498079" cy="10972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794760"/>
            <a:ext cx="822960" cy="822960"/>
          </a:xfrm>
          <a:prstGeom prst="ellipse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DPM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Dr. Priya Menon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Chief Medical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519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MD Radiology (CMC Vellore), Fellowship (Johns Hopkins). 15 years in tele-radiology, interpreted 200K+ scans. Board member of Indian Radiology &amp; Imaging Association. Designed NovaMed's clinical validation protocol.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7498079" cy="109728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29200"/>
            <a:ext cx="822960" cy="822960"/>
          </a:xfrm>
          <a:prstGeom prst="ellipse">
            <a:avLst/>
          </a:prstGeom>
          <a:solidFill>
            <a:srgbClr val="009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Rajesh Iyer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257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VP of Government 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48640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IAS (Retd.), former Additional Secretary, MoHFW. Architected the Ayushman Bharat hospital empanelment process. Personal network across 18 state NHM directors. Led ₹4,000 Cr procurement for national health IT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FINANCIALS &amp; USE OF 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498079" cy="219456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EF7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EF7"/>
                </a:solidFill>
                <a:latin typeface="Calibri"/>
              </a:defRPr>
            </a:pPr>
            <a:r>
              <a:t>FY25 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EF7"/>
                </a:solidFill>
                <a:latin typeface="Calibri"/>
              </a:defRPr>
            </a:pPr>
            <a:r>
              <a:t>FY26 (Current)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EF7"/>
                </a:solidFill>
                <a:latin typeface="Calibri"/>
              </a:defRPr>
            </a:pPr>
            <a:r>
              <a:t>FY27 (Proj)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EF7"/>
                </a:solidFill>
                <a:latin typeface="Calibri"/>
              </a:defRPr>
            </a:pPr>
            <a:r>
              <a:t>FY28 (Proj)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₹1.2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₹4.7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₹18.5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₹52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47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947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947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947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947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PHCs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1,200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295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3,800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642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Burn Rate (mo)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₹38L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₹52L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₹65L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₹48L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990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2990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8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990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Post-raise: 24 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2990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990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Cash-flow +ve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Raising: $12M Series A (₹100 Cr)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AA"/>
                </a:solidFill>
                <a:latin typeface="Calibri"/>
              </a:defRPr>
            </a:pPr>
            <a:r>
              <a:t>Lead: Nexus Venture Partners (term sheet signed)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97680"/>
            <a:ext cx="7498079" cy="502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EF7"/>
                </a:solidFill>
                <a:latin typeface="Calibri"/>
              </a:defRPr>
            </a:pPr>
            <a:r>
              <a:t>R&amp;D &amp; Product (40%)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₹40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3434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Pathology V2 engine, FDA clearance, multilingual expansion to 12 languages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46320"/>
            <a:ext cx="7498079" cy="502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92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EF7"/>
                </a:solidFill>
                <a:latin typeface="Calibri"/>
              </a:defRPr>
            </a:pPr>
            <a:r>
              <a:t>GTM &amp; Expansion (30%)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892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₹30 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892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Scale to 8 states, build 15-person govt sales team, attend 24 state NHM tenders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7498079" cy="502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440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EF7"/>
                </a:solidFill>
                <a:latin typeface="Calibri"/>
              </a:defRPr>
            </a:pPr>
            <a:r>
              <a:t>Infrastructure (15%)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5440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₹15 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440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Edge hardware inventory, HIPAA-grade cloud infra, SOC 2 Type II certification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943600"/>
            <a:ext cx="7498079" cy="50292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EF7"/>
                </a:solidFill>
                <a:latin typeface="Calibri"/>
              </a:defRPr>
            </a:pPr>
            <a:r>
              <a:t>Team &amp; Ops (15%)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989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₹15 Cr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989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8"/>
                </a:solidFill>
                <a:latin typeface="Calibri"/>
              </a:defRPr>
            </a:pPr>
            <a:r>
              <a:t>Hire 60 engineers (ML, embedded, full-stack), open Bengaluru R&amp;D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EF7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$12M Series A to scale AI diagnostics</a:t>
            </a:r>
          </a:p>
          <a:p>
            <a:pPr algn="l">
              <a:spcAft>
                <a:spcPts val="200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from 312 to 3,800 PHCs by FY28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With your partnership, we will: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✦  Save an estimated 42,000 lives annually through early detection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✦  Reduce diagnostic costs by 85% for India's most underserved communities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✦  Build the largest rural health AI dataset globally (50M+ data points by 2028)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✦  Achieve cash-flow positivity by Q3 FY28 with 78% gross margins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6400800" cy="1371600"/>
          </a:xfrm>
          <a:prstGeom prst="round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84632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009EF7"/>
                </a:solidFill>
                <a:latin typeface="Calibri"/>
              </a:defRPr>
            </a:pPr>
            <a:r>
              <a:t>Let's talk.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Dr. Ananya Sharma  —  CEO &amp; Co-Founder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📧  ananya@novamed.ai   |   📞  +91-98765-43210</a:t>
            </a:r>
          </a:p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🌐  www.novamed.ai   |   LinkedIn: /in/ananya-sharma-novamed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